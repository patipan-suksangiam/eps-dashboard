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เปิดด้วยภาพรวม: ระบบนี้ทำอะไร — เก็บข้อมูลจาก 4 แหล่ง กลั่นเป็น CSV 19 ไฟล์ แล้วนำเสนอเป็นแดชบอร์ด 8 หน้า โดยทุกตัวเลขบนจอสามารถตรวจย้อนกลับถึงแหล่งต้นทางได้ และอัปเดตอัตโนมัติวันละ 2 รอบ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สี่ส่วน: ภาพรวม, การเก็บข้อมูล, การนำเสนอ, และคุณภาพข้อมูลกับการให้บริการ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 4 ขั้น: Collect → Transform → Store → Serve และหลักการ 3 ข้อที่ทำให้ระบบตรวจสอบได้ คำถามที่มักโดนถาม: ทำไมไม่ใช้ database — เพราะข้อมูลระดับนี้ CSV พอ และทีมตรวจเองได้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เข้า part แรก: การเก็บข้อมูล — ตอบคำถามว่า 'ตัวเลขบนแดชบอร์ดมาจากไหน'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ทั้ง 4 แหล่งเชื่อมต่อจริงแล้ว ไม่มี mock — ตัวเลขในคอลัมน์ 'ปริมาณข้อมูลจริง' นับจากไฟล์จริง ปิดท้ายด้วยสิ่งที่ไม่ครบ เพื่อไม่ให้เข้าใจผิดว่าข้อมูลสมบูรณ์ 100%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นี่คือผังหลักของงาน: 4 คอลัมน์ = ต้นทาง → ตัวดึง → ไฟล์ → ตัวคำนวณ+แอป และลำดับ 6 ขั้นด้านล่างคือสิ่งที่ต้องรักษาเวลาแก้ระบบ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 3 ชั้น: ต้นทาง (ห้ามแก้มือ) → รายกลุ่ม (เกิดจาก group_map) → วิเคราะห์ (คำนวณล่วงหน้าเพื่อความเร็ว) การมีชั้น 12–17 ทำให้หน้าเว็บไม่ต้องประมวลผลหนักในเบราว์เซอร์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ตารางเวลาจริงที่ใช้อยู่ — ชี้ให้ดูว่าวันละ 2 รอบหลัก (12:15 กับ 00:00) และมีรายสัปดาห์/รายเดือน log ด้านล่างคือหลักฐานว่าวันนี้รันสำเร็จ ได้ SO 1,057 ใบ 174.98 ล้าน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นี่คือส่วนที่คนมักข้าม แต่เป็นเหตุผลว่าทำไมยอดรวมของ 5 กลุ่มไม่เท่ายอดทั้งบริษัท ถ้าถูกถามว่าทำไม Group รวมได้ 91.6 แต่บริษัท 174.98 — เพราะอีก 82.8 ล้าน map กลุ่มไม่ได้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ความน่าเชื่อถือของสไลด์นี้สำคัญ: บอกทั้งของดีและของที่ยังขาด ถ้าผู้บริหารถามเลข 19% ที่หาย — คำตอบคือลูกค้าที่ไม่มีรหัสอุตสาหกรรม ให้กรอกใน CRM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เข้า part ที่สอง: การนำเสนอ — ทีละหน้า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พูดตรง ๆ เรื่อง auth: ตอนนี้เป็น client-side ใช้แบ่ง view ได้ แต่ไม่ใช่ความปลอดภัยจริง ถ้าจะเปิดให้คนนอกบริษัทใช้ ต้องมีชั้น network หรือ Cloudflare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หน้าแรกที่ทุกคนเห็น: KPI 4 ใบ + กราฟ 5 กลุ่ม + กราฟสะสม + AI Action Plan ตัวเลข 174.98 จากเป้า 453.55 = 39% — คือช่องว่างที่ต้องปิด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ทั้ง 5 กลุ่มใช้เลย์เอาต์เดียวกัน ต่างกันที่ข้อมูล — ตัวอย่างกลุ่ม A: 24.34 จากเป้า 73.85 จุดขายของหน้านี้คือ drill-down 4 ชั้น ลงไปถึงรายลูกค้าและรายดีล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หน้าสต็อก: 16.73 ล้าน มูลค่ารวม โดย 4.44 ล้าน (195 รายการ) เป็น dead stock เกิน 3 ปี ตัวกรอง 3 ชั้นทำให้เซลส์หาของที่ลูกค้าถามได้เร็ว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หน้านี้เชื่อม 'ภายนอก' กับ 'ภายใน': เศรษฐกิจมหภาค + โครงการ BOI + ทะเบียนโรงงาน แล้วคลิกดูได้ว่าโรงงานเหล่านั้นเราเคยเข้าไปพบหรือยัง — เป็นมุมหาลูกค้าใหม่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สไลด์นี้คือคำตอบของคำถาม 'ตัวเลขนี้มาจากไหน' — ทุกหน้าอ่านไฟล์ที่ระบุไว้ ไม่มีค่าฮาร์ดโค้ด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คำถามที่พบบ่อย: ข้อมูลปลอดภัยไหม — ตอนนี้ข้อมูลอยู่ใน NAS ของบริษัท ตัวไฟล์เสิร์ฟมี allowlist บล็อกโฟลเดอร์ลับ แต่ auth ของแอปยังเป็น client-side จึงควรจำกัดการเข้าถึงที่ระดับเครือข่าย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ปิดด้วย 3 บรรทัดและ 5 สิ่งที่ทำต่อ — ถ้าต้องเลือกทำอย่างเดียว เลือกข้อ 1 เพราะกระทบตัวเลขมากที่สุด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ปิดการนำเสนอ — ชี้ให้ดูว่าเอกสารอ้างอิงอยู่ในโฟลเดอร์งานเดียวกันทั้งหมด ใครอยากตรวจต่อทำได้เลย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99655" y="960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66583" y="960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33511" y="960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00439" y="960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67367" y="960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830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EA5E9"/>
                </a:solidFill>
                <a:latin typeface="Tahoma"/>
              </a:rPr>
              <a:t>SIAM RAJ PLC  ·  EPS BUSINESS UNIT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12848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Tahoma"/>
              </a:rPr>
              <a:t>EPS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27248"/>
            <a:ext cx="8961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E2E8F0"/>
                </a:solidFill>
                <a:latin typeface="Tahoma"/>
              </a:rPr>
              <a:t>ผังการเก็บข้อมูล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E2E8F0"/>
                </a:solidFill>
                <a:latin typeface="Tahoma"/>
              </a:rPr>
              <a:t>และการนำเสนอข้อมูล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443984"/>
            <a:ext cx="1463040" cy="3200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681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Tahoma"/>
              </a:rPr>
              <a:t>Interactive Sales &amp; Operational Cockpit · FY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97433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Tahoma"/>
              </a:rPr>
              <a:t>ฉบับเดือนตุลาคม 2569  ·  ข้อมูลจริงจาก CRM / OIE / BOI / DIW-DBD ณ 19 ต.ค. 2569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559552"/>
            <a:ext cx="2542032" cy="78638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143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65099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A5E9"/>
                </a:solidFill>
                <a:latin typeface="Tahom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1056" y="5705856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CBD5E1"/>
                </a:solidFill>
                <a:latin typeface="Tahoma"/>
              </a:rPr>
              <a:t>แหล่งข้อมูลต้นทาง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9856" y="5559552"/>
            <a:ext cx="2542032" cy="78638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143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565099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A5E9"/>
                </a:solidFill>
                <a:latin typeface="Tahoma"/>
              </a:rP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544" y="5705856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CBD5E1"/>
                </a:solidFill>
                <a:latin typeface="Tahoma"/>
              </a:rPr>
              <a:t>ไฟล์ CSV ในคลังข้อมูล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5559552"/>
            <a:ext cx="2542032" cy="78638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143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565099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A5E9"/>
                </a:solidFill>
                <a:latin typeface="Tahoma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1" y="5705856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CBD5E1"/>
                </a:solidFill>
                <a:latin typeface="Tahoma"/>
              </a:rPr>
              <a:t>หน้าแดชบอร์ด + 6 roles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2832" y="5559552"/>
            <a:ext cx="2542032" cy="78638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143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565099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A5E9"/>
                </a:solidFill>
                <a:latin typeface="Tahoma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5705856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CBD5E1"/>
                </a:solidFill>
                <a:latin typeface="Tahoma"/>
              </a:rPr>
              <a:t>รอบอัปเดตอัตโนมัติ/วัน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สารบัญ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เนื้อหาการนำเสนอ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10874959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54864" cy="10241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883664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EA5E9"/>
                </a:solidFill>
                <a:latin typeface="Tahom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6815" y="1865376"/>
            <a:ext cx="8869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Tahoma"/>
              </a:rPr>
              <a:t>ภาพรวมระบบ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5" y="2231136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Tahoma"/>
              </a:rPr>
              <a:t>ระบบทั้งหมดทำงานอย่างไรในหน้าเดียว — เก็บ → แปลง → เก็บเป็นไฟล์ → นำเสนอ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16352"/>
            <a:ext cx="10874959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16352"/>
            <a:ext cx="54864" cy="10241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035808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D9488"/>
                </a:solidFill>
                <a:latin typeface="Tahom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6815" y="3017520"/>
            <a:ext cx="8869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Tahoma"/>
              </a:rPr>
              <a:t>ผังการเก็บข้อมูล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6815" y="338328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Tahoma"/>
              </a:rPr>
              <a:t>แหล่งข้อมูล 4 กลุ่ม · 24 สคริปต์ ETL · คลัง CSV 3 ชั้น · ตารางเวลา cron · กุญแจเชื่อมข้อมูล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968496"/>
            <a:ext cx="10874959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968496"/>
            <a:ext cx="54864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418795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7C3AED"/>
                </a:solidFill>
                <a:latin typeface="Tahom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56815" y="4169663"/>
            <a:ext cx="8869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Tahoma"/>
              </a:rPr>
              <a:t>การนำเสนอข้อมูล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6815" y="4535424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Tahoma"/>
              </a:rPr>
              <a:t>สิทธิ์ตามบทบาท · 8 หน้าแดชบอร์ด ทีละหน้า · ที่มาของทุกตัวเลข (traceability)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120640"/>
            <a:ext cx="10874959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120640"/>
            <a:ext cx="54864" cy="10241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340096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D97706"/>
                </a:solidFill>
                <a:latin typeface="Tahoma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56815" y="5321807"/>
            <a:ext cx="8869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Tahoma"/>
              </a:rPr>
              <a:t>คุณภาพข้อมูล &amp; การให้บริการ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6815" y="5687568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Tahoma"/>
              </a:rPr>
              <a:t>จุดแข็ง ข้อจำกัดที่กระทบตัวเลข · การโฮสต์บน NAS · แผนพัฒนาต่อ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ภาพรวมระบบ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จาก 4 ระบบต้นทาง สู่แดชบอร์ด 8 หน้า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2542032" cy="3054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2542032" cy="457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37360"/>
            <a:ext cx="21762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ahoma"/>
              </a:rPr>
              <a:t>1. เก็บ (Collect)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4942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CRM vtiger 8.0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1635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Google Sheets PM Master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383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สศอ. OIE + ธปท.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95020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BOI · DIW · DBD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55264" y="2962656"/>
            <a:ext cx="125882" cy="329184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36010" y="1627632"/>
            <a:ext cx="2542032" cy="3054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36010" y="1627632"/>
            <a:ext cx="2542032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8890" y="1737360"/>
            <a:ext cx="21762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ahoma"/>
              </a:rPr>
              <a:t>2. แปลง (Transform)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8890" y="224942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24 สคริปต์ Python (stdlib)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8890" y="281635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ดึง · ล้าง · join · คำนวณ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890" y="3383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ไม่มี DB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8890" y="395020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รันตาม cron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32906" y="2962656"/>
            <a:ext cx="125882" cy="329184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3652" y="1627632"/>
            <a:ext cx="2542032" cy="3054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3652" y="1627632"/>
            <a:ext cx="2542032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6532" y="1737360"/>
            <a:ext cx="21762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ahoma"/>
              </a:rPr>
              <a:t>3. เก็บเป็นไฟล์ (Store)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6532" y="224942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RAW_Data/ 19 ไฟล์ 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6532" y="281635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≈96,000 แถว · ≈10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6532" y="3383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เปิดตรวจด้วย Excel ได้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532" y="395020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เป็นสัญญากลาง ETL ↔ UI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810548" y="2962656"/>
            <a:ext cx="125882" cy="329184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91295" y="1627632"/>
            <a:ext cx="2542032" cy="3054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91295" y="1627632"/>
            <a:ext cx="2542032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74175" y="1737360"/>
            <a:ext cx="21762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ahoma"/>
              </a:rPr>
              <a:t>4. นำเสนอ (Serve)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4175" y="224942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SPA 8 หน้า + 6 roles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4175" y="281635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โหลด CSV แล้ววาดกราฟ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4175" y="33832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Chart.js (vendored)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4175" y="395020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ไทย / อังกฤษ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828032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Tahoma"/>
              </a:rPr>
              <a:t>หลักการที่ยึดทั้งระบบ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138928"/>
            <a:ext cx="5394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050" b="1">
                <a:solidFill>
                  <a:srgbClr val="1D4ED8"/>
                </a:solidFill>
                <a:latin typeface="Tahoma"/>
              </a:rPr>
              <a:t>▪  </a:t>
            </a:r>
            <a:r>
              <a:rPr sz="1050" b="1">
                <a:solidFill>
                  <a:srgbClr val="0F172A"/>
                </a:solidFill>
                <a:latin typeface="Tahoma"/>
              </a:rPr>
              <a:t>CSV เป็นสัญญากลาง </a:t>
            </a:r>
            <a:r>
              <a:rPr sz="1050">
                <a:solidFill>
                  <a:srgbClr val="64748B"/>
                </a:solidFill>
                <a:latin typeface="Tahoma"/>
              </a:rPr>
              <a:t>— ETL เขียนไฟล์, หน้าเว็บอ่านไฟล์ ไม่ผูกกันด้วย API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050" b="1">
                <a:solidFill>
                  <a:srgbClr val="1D4ED8"/>
                </a:solidFill>
                <a:latin typeface="Tahoma"/>
              </a:rPr>
              <a:t>▪  </a:t>
            </a:r>
            <a:r>
              <a:rPr sz="1050" b="1">
                <a:solidFill>
                  <a:srgbClr val="0F172A"/>
                </a:solidFill>
                <a:latin typeface="Tahoma"/>
              </a:rPr>
              <a:t>ทุก KPI คำนวณสด </a:t>
            </a:r>
            <a:r>
              <a:rPr sz="1050">
                <a:solidFill>
                  <a:srgbClr val="64748B"/>
                </a:solidFill>
                <a:latin typeface="Tahoma"/>
              </a:rPr>
              <a:t>— ไม่มีตัวเลขฮาร์ดโค้ดในหน้าเว็บ; ค่าที่ไม่มีแหล่งข้อมูลถูกถอดออก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050" b="1">
                <a:solidFill>
                  <a:srgbClr val="1D4ED8"/>
                </a:solidFill>
                <a:latin typeface="Tahoma"/>
              </a:rPr>
              <a:t>▪  </a:t>
            </a:r>
            <a:r>
              <a:rPr sz="1050" b="1">
                <a:solidFill>
                  <a:srgbClr val="0F172A"/>
                </a:solidFill>
                <a:latin typeface="Tahoma"/>
              </a:rPr>
              <a:t>ตรวจย้อนได้ทุกตัวเลข </a:t>
            </a:r>
            <a:r>
              <a:rPr sz="1050">
                <a:solidFill>
                  <a:srgbClr val="64748B"/>
                </a:solidFill>
                <a:latin typeface="Tahoma"/>
              </a:rPr>
              <a:t>— กดดูได้ว่าค่ามาจากไฟล์ไหน และไฟล์นั้นมาจากระบบไหน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19088" y="5102352"/>
            <a:ext cx="5114239" cy="120700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5212080"/>
            <a:ext cx="47484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ทำไมเลือก CSV ไม่ใช้ Database?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ต้นทุนต่ำ ไม่ต้องดูแล server · ทีมเปิดตรวจเองได้ด้วย Excel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· สำรองข้อมูล = copy โฟลเดอร์ · เพียงพอสำหรับข้อมูลระดับ ~100k แถว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0" b="1" i="0">
                <a:solidFill>
                  <a:srgbClr val="334155"/>
                </a:solidFill>
                <a:latin typeface="Tahom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3464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Tahoma"/>
              </a:rPr>
              <a:t>ผังการเก็บข้อมูล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65760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Tahoma"/>
              </a:rPr>
              <a:t>ข้อมูลมาจากไหน ถูกแปลงอย่างไร และเก็บไว้ที่ใด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7200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Tahoma"/>
              </a:rPr>
              <a:t>— แหล่งข้อมูล 4 กลุ่ม และรอบการอัปเดต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9011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Tahoma"/>
              </a:rPr>
              <a:t>— เส้นทางการไหล: ระบบต้นทาง → สคริปต์ → ไฟล์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5230368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Tahoma"/>
              </a:rPr>
              <a:t>— คลัง CSV 3 ชั้น (ต้นทาง / รายกลุ่ม / วิเคราะห์)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55595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Tahoma"/>
              </a:rPr>
              <a:t>— ตารางเวลา ETL และกุญแจเชื่อมข้อมูล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01 · ผังการเก็บข้อมูล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แหล่งข้อมูล 4 กลุ่ม — ทั้งหมดเชื่อมต่อจริง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627632"/>
          <a:ext cx="10863072" cy="3419856"/>
        </p:xfrm>
        <a:graphic>
          <a:graphicData uri="http://schemas.openxmlformats.org/drawingml/2006/table">
            <a:tbl>
              <a:tblPr firstRow="0" bandRow="0"/>
              <a:tblGrid>
                <a:gridCol w="1783080"/>
                <a:gridCol w="2331720"/>
                <a:gridCol w="3044952"/>
                <a:gridCol w="2331720"/>
                <a:gridCol w="137160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Tahoma"/>
                        </a:rPr>
                        <a:t>แหล่งข้อมูล</a:t>
                      </a:r>
                    </a:p>
                  </a:txBody>
                  <a:tcPr marL="82296" marR="82296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Tahoma"/>
                        </a:rPr>
                        <a:t>ระบบต้นทาง</a:t>
                      </a:r>
                    </a:p>
                  </a:txBody>
                  <a:tcPr marL="82296" marR="82296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Tahoma"/>
                        </a:rPr>
                        <a:t>ไฟล์ปลายทาง (RAW_Data/)</a:t>
                      </a:r>
                    </a:p>
                  </a:txBody>
                  <a:tcPr marL="82296" marR="82296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Tahoma"/>
                        </a:rPr>
                        <a:t>ปริมาณข้อมูลจริง</a:t>
                      </a:r>
                    </a:p>
                  </a:txBody>
                  <a:tcPr marL="82296" marR="82296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Tahoma"/>
                        </a:rPr>
                        <a:t>รอบอัปเดต</a:t>
                      </a:r>
                    </a:p>
                  </a:txBody>
                  <a:tcPr marL="82296" marR="82296" marT="36576" marB="36576" anchor="ctr">
                    <a:solidFill>
                      <a:srgbClr val="1E293B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919" b="1">
                          <a:solidFill>
                            <a:srgbClr val="0F172A"/>
                          </a:solidFill>
                          <a:latin typeface="Tahoma"/>
                        </a:rPr>
                        <a:t>1. CRM (ภายใน)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vtiger 8.0
webservice.php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1_CRM_Sales_Person · 2_Quote_Data
3_SO_Data · 4_Visit_Report · 9_Client_Master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ใบเสนอราคา 41,181 · SO 1,057
เข้าพบ 20,006 · ลูกค้า 5,530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วันละ 2 ครั้ง
+ รายสัปดาห์/เดือน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919" b="1">
                          <a:solidFill>
                            <a:srgbClr val="0F172A"/>
                          </a:solidFill>
                          <a:latin typeface="Tahoma"/>
                        </a:rPr>
                        <a:t>2. Inventory (PM)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Google Sheets
PM Master (Sale tab)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5_Inventory_Supplier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453 รายการ · 16.73 M THB
Dead stock 195 รายการ · 4.44 M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วันละ 2 ครั้ง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919" b="1">
                          <a:solidFill>
                            <a:srgbClr val="0F172A"/>
                          </a:solidFill>
                          <a:latin typeface="Tahoma"/>
                        </a:rPr>
                        <a:t>3. เศรษฐกิจมหภาค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สศอ. (OIE) + ธปท.
ไฟล์รายเดือน 7 ไฟล์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6_Macroeconomic_Data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15,143 แถว · CapU 129 เซกเตอร์
MPI · ดอกเบี้ยนโยบาย · Capex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รายเดือน (วันที่ 1)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919" b="1">
                          <a:solidFill>
                            <a:srgbClr val="0F172A"/>
                          </a:solidFill>
                          <a:latin typeface="Tahoma"/>
                        </a:rPr>
                        <a:t>4. รัฐ / ส่งเสริมการลงทุน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BOI รายงานอนุมัติ
DIW ทะเบียนโรงงาน + DBD API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7_BOI_Data · 8_DBD_Data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BOI 24 โครงการ · ทะเบียนโรงงาน
จับคู่ลูกค้าได้ ~30%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0F172A"/>
                          </a:solidFill>
                          <a:latin typeface="Tahoma"/>
                        </a:rPr>
                        <a:t>รายเดือน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5212080"/>
            <a:ext cx="10874959" cy="841248"/>
          </a:xfrm>
          <a:prstGeom prst="roundRect">
            <a:avLst>
              <a:gd name="adj" fmla="val 5000"/>
            </a:avLst>
          </a:prstGeom>
          <a:solidFill>
            <a:srgbClr val="FEF9EC"/>
          </a:solidFill>
          <a:ln w="1143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330952"/>
            <a:ext cx="104726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80" b="0" i="0">
                <a:solidFill>
                  <a:srgbClr val="92400E"/>
                </a:solidFill>
                <a:latin typeface="Tahoma"/>
              </a:rPr>
              <a:t>สิ่งที่ยังไม่มีในต้นทาง (ทำให้บางตัวเลขยังไม่ครบ):  เป้า Quota ราย supplier &amp; rebate · MPI รายเซกเตอร์ · เหตุผลชนะ/แพ้ (win-loss) ใน CRM · เบอร์/ผู้ติดต่อลูกค้าใน Client Master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455664"/>
            <a:ext cx="10874959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54710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Tahoma"/>
              </a:rPr>
              <a:t>ที่มา: data_sources.md · Data_Dictionary_and_Schedule.md · นับแถวจาก RAW_Data/*.csv ณ 19 ต.ค. 2569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10367" y="6547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Tahom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01 · ผังการเก็บข้อมูล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เส้นทางการไหลของข้อมูล: ระบบต้นทาง → สคริปต์ → ไฟล์ → หน้าเว็บ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9344"/>
            <a:ext cx="2487168" cy="40233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00784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Tahoma"/>
              </a:rPr>
              <a:t>แหล่งข้อมูล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11680"/>
            <a:ext cx="2487168" cy="2761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39696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CRM vtiger (webservice)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78024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Google Sheets (PM Master)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816352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OIE + ธปท. (ไฟล์รายเดือน)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154680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BOI · DIW · DBD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82112" y="3246120"/>
            <a:ext cx="235610" cy="256032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4298" y="1609344"/>
            <a:ext cx="2487168" cy="40233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602" y="1700784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Tahoma"/>
              </a:rPr>
              <a:t>สคริปต์ดึง (pull)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298" y="2011680"/>
            <a:ext cx="2487168" cy="2761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602" y="2139696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crm_query.py → pull_crm_data.py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602" y="2619756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pull_so_2026 · pull_hotjobs_2026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602" y="3099816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pull_crm_analytics.py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602" y="3438144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etl_script.py + clean_inventory.py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602" y="3918204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build_macro · build_boi · build_dbd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602" y="4398264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monthly_oie_update.py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78042" y="3246120"/>
            <a:ext cx="235610" cy="256032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0228" y="1609344"/>
            <a:ext cx="2487168" cy="4023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6532" y="1700784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Tahoma"/>
              </a:rPr>
              <a:t>คลัง CSV (RAW_Data/)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0228" y="2011680"/>
            <a:ext cx="2487168" cy="2761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6532" y="2139696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ชั้นต้นทาง 0–9 (11 ไฟล์)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532" y="2478024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ชั้นรายกลุ่ม 10–11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6532" y="2816352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ชั้นวิเคราะห์ 12–17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6532" y="3154680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เขียนทับทุกครั้งที่รัน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6532" y="3493008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ไม่มีการแก้ด้วยมือ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773972" y="3246120"/>
            <a:ext cx="235610" cy="256032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46159" y="1609344"/>
            <a:ext cx="2487168" cy="40233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92463" y="1700784"/>
            <a:ext cx="22128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Tahoma"/>
              </a:rPr>
              <a:t>สคริปต์คำนวณ (build) + แอป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46159" y="2011680"/>
            <a:ext cx="2487168" cy="2761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92463" y="2139696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build_overview.py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2463" y="2478024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build_group_detail.py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92463" y="2816352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build_group_analytics.py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2463" y="3154680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build_open_quotes.py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2463" y="3493008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run_sync.py (cron)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2463" y="3831336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serve_raw_data.py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92463" y="4169664"/>
            <a:ext cx="22128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▸ Dashboard_App/ (SPA)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4919472"/>
            <a:ext cx="10874959" cy="13716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5029200"/>
            <a:ext cx="104360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Tahoma"/>
              </a:rPr>
              <a:t>ลำดับการรันที่ต้องรักษา (ถ้าสลับ ตัวเลขจะค้างของเก่า)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7824" y="5358384"/>
            <a:ext cx="1617421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6" y="5431536"/>
            <a:ext cx="147111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① ดึงข้อมูลต้นทาง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(CRM / Sheets / ไฟล์ราชการ)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41549" y="5358384"/>
            <a:ext cx="1617421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14701" y="5431536"/>
            <a:ext cx="147111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② 3_SO_Data +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9_Client_Master พร้อม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05274" y="5358384"/>
            <a:ext cx="1617421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78426" y="5431536"/>
            <a:ext cx="147111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③ build_overview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68999" y="5358384"/>
            <a:ext cx="1617421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42151" y="5431536"/>
            <a:ext cx="147111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④ build_group_detail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32724" y="5358384"/>
            <a:ext cx="1617421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05876" y="5431536"/>
            <a:ext cx="147111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⑤ build_group_analytics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96449" y="5358384"/>
            <a:ext cx="1617421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69601" y="5431536"/>
            <a:ext cx="1471117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⑥ หน้าเว็บ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อ่านไฟล์ CSV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6455664"/>
            <a:ext cx="10874959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654710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Tahoma"/>
              </a:rPr>
              <a:t>สคริปต์ทั้งหมดใช้ Python stdlib (urllib/csv/json) — รันได้บนเครื่องทั่วไปและบน NAS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10367" y="6547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Tahom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01 · ผังการเก็บข้อมูล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คลังข้อมูล RAW_Data/ — 19 ไฟล์ แบ่ง 3 ชั้น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91056"/>
            <a:ext cx="10874959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91056"/>
            <a:ext cx="54864" cy="14813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00784"/>
            <a:ext cx="104177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0EA5E9"/>
                </a:solidFill>
                <a:latin typeface="Tahoma"/>
              </a:rPr>
              <a:t>ชั้นที่ 1 · ข้อมูลต้นทาง (0–9) — 11 ไฟล์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47672"/>
            <a:ext cx="104177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Tahoma"/>
              </a:rPr>
              <a:t>ดึง/แปลงจากระบบต้นทางโดยตรง ยังไม่ผ่านการสรุป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330494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0_EPS_Overview_2026 (9)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0_EPS_HotJobs_2026 (6)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1_CRM_Sales_Person (60)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2_Quote_Data (41,181)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6506" y="2212848"/>
            <a:ext cx="330494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3_SO_Data (1,057)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4_Visit_Report (20,006)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5_Inventory_Supplier (453)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6_Macroeconomic_Data (15,143)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8612" y="2212848"/>
            <a:ext cx="330494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7_BOI_Data (24)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8_DBD_Data (5,530)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9_Client_Master (5,530)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00400"/>
            <a:ext cx="10874959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200400"/>
            <a:ext cx="54864" cy="93268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310128"/>
            <a:ext cx="104177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0D9488"/>
                </a:solidFill>
                <a:latin typeface="Tahoma"/>
              </a:rPr>
              <a:t>ชั้นที่ 2 · ข้อมูลรายกลุ่ม (10–11) — 2 ไฟล์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557016"/>
            <a:ext cx="104177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Tahoma"/>
              </a:rPr>
              <a:t>แยกยอดตามกลุ่มขาย A–D/R จากกติกา group_map.json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22191"/>
            <a:ext cx="101891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10_Group_Reps (77)  ·  พนักงานขาย + ยอดขายต่อกลุ่ม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11_Group_Clients (578)  ·  ลูกค้า + ยอด + จำนวนครั้งที่เข้าพบ ต่อกลุ่ม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61104"/>
            <a:ext cx="10874959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261104"/>
            <a:ext cx="54864" cy="14813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70832"/>
            <a:ext cx="104177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Tahoma"/>
              </a:rPr>
              <a:t>ชั้นที่ 3 · ข้อมูลวิเคราะห์ / เจาะลึก (12–17) — 6 ไฟล์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617720"/>
            <a:ext cx="104177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Tahoma"/>
              </a:rPr>
              <a:t>คำนวณล่วงหน้าเพื่อให้หน้าเว็บโหลดเร็ว (pre-aggregated)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82896"/>
            <a:ext cx="330494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12_Group_KPI (6)  ·  KPI รายกลุ่ม 14 ตัวชี้วัด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13_Rep_Performance (15)  ·  ผลงานรายพนักงานขาย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6506" y="4882896"/>
            <a:ext cx="330494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14_Client_Detail (4,535)  ·  ลูกค้ารายราย + DBD + การเข้าพบ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15_SO_Delivery (1,057)  ·  กำหนดส่ง vs วันบุ๊คกิ้ง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8612" y="4882896"/>
            <a:ext cx="330494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16_Todo (18)  ·  งานที่ระบบแนะนำให้ทำ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840" b="0" i="0">
                <a:solidFill>
                  <a:srgbClr val="0F172A"/>
                </a:solidFill>
                <a:latin typeface="Tahoma"/>
              </a:rPr>
              <a:t>· 17_Open_Quotes (1,059)  ·  ใบเสนอราคาค้างพร้อม aging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455664"/>
            <a:ext cx="10874959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54710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Tahoma"/>
              </a:rPr>
              <a:t>ตัวเลขในวงเล็บ = จำนวนแถวข้อมูลจริง (นับด้วย csv.reader ณ 19 ต.ค. 2569) · รวม ≈96,000 แถว ≈10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10367" y="6547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Tahom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01 · ผังการเก็บข้อมูล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ตารางเวลา ETL — อัปเดตอัตโนมัติผ่าน cron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9344"/>
            <a:ext cx="10874959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9344"/>
            <a:ext cx="50292" cy="67665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09928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1" i="0">
                <a:solidFill>
                  <a:srgbClr val="1D4ED8"/>
                </a:solidFill>
                <a:latin typeface="Tahoma"/>
              </a:rPr>
              <a:t>ทุกวัน 12:15 และ 00:00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64748B"/>
                </a:solidFill>
                <a:latin typeface="Tahoma"/>
              </a:rPr>
              <a:t>run_sync.py daily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1728216"/>
            <a:ext cx="794887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0" i="0">
                <a:solidFill>
                  <a:srgbClr val="0F172A"/>
                </a:solidFill>
                <a:latin typeface="Tahoma"/>
              </a:rPr>
              <a:t>Drive sync → Inventory + SO + HotJobs → CRM analytics → Overview → Group detail → Group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340864"/>
            <a:ext cx="10874959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340864"/>
            <a:ext cx="50292" cy="6766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441448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1" i="0">
                <a:solidFill>
                  <a:srgbClr val="0D9488"/>
                </a:solidFill>
                <a:latin typeface="Tahoma"/>
              </a:rPr>
              <a:t>ทุกวันอาทิตย์ 00:20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697480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64748B"/>
                </a:solidFill>
                <a:latin typeface="Tahoma"/>
              </a:rPr>
              <a:t>run_sync.py weekly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459736"/>
            <a:ext cx="794887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0" i="0">
                <a:solidFill>
                  <a:srgbClr val="0F172A"/>
                </a:solidFill>
                <a:latin typeface="Tahoma"/>
              </a:rPr>
              <a:t>Visit Report (CRM Events) — 20,006 กิจกรรมปี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072384"/>
            <a:ext cx="10874959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072384"/>
            <a:ext cx="50292" cy="67665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172968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1" i="0">
                <a:solidFill>
                  <a:srgbClr val="7C3AED"/>
                </a:solidFill>
                <a:latin typeface="Tahoma"/>
              </a:rPr>
              <a:t>วันที่ 1 ของเดือน 00:30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3429000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64748B"/>
                </a:solidFill>
                <a:latin typeface="Tahoma"/>
              </a:rPr>
              <a:t>run_sync.py 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3191256"/>
            <a:ext cx="794887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0" i="0">
                <a:solidFill>
                  <a:srgbClr val="0F172A"/>
                </a:solidFill>
                <a:latin typeface="Tahoma"/>
              </a:rPr>
              <a:t>Client Master · Sales Person · Macro · BOI · DBD → แล้วรัน Overview ใหม่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03904"/>
            <a:ext cx="10874959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03904"/>
            <a:ext cx="50292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904488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1" i="0">
                <a:solidFill>
                  <a:srgbClr val="D97706"/>
                </a:solidFill>
                <a:latin typeface="Tahoma"/>
              </a:rPr>
              <a:t>วันที่ 1 ของเดือน 00:00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160520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64748B"/>
                </a:solidFill>
                <a:latin typeface="Tahoma"/>
              </a:rPr>
              <a:t>monthly_oie_update.py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8" y="3922776"/>
            <a:ext cx="794887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0" i="0">
                <a:solidFill>
                  <a:srgbClr val="0F172A"/>
                </a:solidFill>
                <a:latin typeface="Tahoma"/>
              </a:rPr>
              <a:t>ดึงดัชนี สศอ. 7 ไฟล์ → แปลง CapU เข้า 6_Macroeconomic_Data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535424"/>
            <a:ext cx="10874959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535424"/>
            <a:ext cx="50292" cy="67665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636008"/>
            <a:ext cx="2331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1" i="0">
                <a:solidFill>
                  <a:srgbClr val="DB2777"/>
                </a:solidFill>
                <a:latin typeface="Tahoma"/>
              </a:rPr>
              <a:t>วันที่ 2 ของเดือน 08:30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4892040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" b="0" i="0">
                <a:solidFill>
                  <a:srgbClr val="64748B"/>
                </a:solidFill>
                <a:latin typeface="Tahoma"/>
              </a:rPr>
              <a:t>run_digest.py --to groups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5848" y="4654296"/>
            <a:ext cx="794887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0" i="0">
                <a:solidFill>
                  <a:srgbClr val="0F172A"/>
                </a:solidFill>
                <a:latin typeface="Tahoma"/>
              </a:rPr>
              <a:t>เมลสรุป BOI + CapU ให้ 5 กลุ่มขาย (+Cc 5 คน)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303520"/>
            <a:ext cx="10874959" cy="859536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143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376672"/>
            <a:ext cx="104360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59669"/>
                </a:solidFill>
                <a:latin typeface="Tahoma"/>
              </a:rPr>
              <a:t>หลักฐานการทำงานจริง — etl_sync.log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" y="5605272"/>
            <a:ext cx="10436047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60" b="0" i="0">
                <a:solidFill>
                  <a:srgbClr val="065F46"/>
                </a:solidFill>
                <a:latin typeface="Tahoma"/>
              </a:rPr>
              <a:t>2026-10-19 00:00:01  === daily sync start ===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60" b="0" i="0">
                <a:solidFill>
                  <a:srgbClr val="065F46"/>
                </a:solidFill>
                <a:latin typeface="Tahoma"/>
              </a:rPr>
              <a:t>2026-10-19 00:00:14  SO ok: year 2026: 1057 sales orders | 174.98 M THB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60" b="0" i="0">
                <a:solidFill>
                  <a:srgbClr val="065F46"/>
                </a:solidFill>
                <a:latin typeface="Tahoma"/>
              </a:rPr>
              <a:t>2026-10-19 00:00:18  HotJobs ok:  D: 32 deals | 21.49 M  ·  R: 52 deals | 11.21 M   →  done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6455664"/>
            <a:ext cx="10874959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654710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Tahoma"/>
              </a:rPr>
              <a:t>cron บน NAS (JOM-NAS) · ตัวเลือกอื่น: รัน etl_script.py เป็น service ที่ตั้งเวลาในตัว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10367" y="6547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Tahom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01 · ผังการเก็บข้อมูล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กุญแจเชื่อมข้อมูล — หัวใจที่ทำให้ตัวเลขต่อกันได้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2581579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2581579" cy="5029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73936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0EA5E9"/>
                </a:solidFill>
                <a:latin typeface="Tahoma"/>
              </a:rPr>
              <a:t>client_id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48256"/>
            <a:ext cx="22158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Tahoma"/>
              </a:rPr>
              <a:t>11x…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40864"/>
            <a:ext cx="22158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0" i="0">
                <a:solidFill>
                  <a:srgbClr val="0F172A"/>
                </a:solidFill>
                <a:latin typeface="Tahoma"/>
              </a:rPr>
              <a:t>เชื่อม Quote · SO · Visit · Client Master · DBD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2827" y="1627632"/>
            <a:ext cx="2581579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2827" y="1627632"/>
            <a:ext cx="2581579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5707" y="1773936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0D9488"/>
                </a:solidFill>
                <a:latin typeface="Tahoma"/>
              </a:rPr>
              <a:t>emp_id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5707" y="2048256"/>
            <a:ext cx="22158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Tahoma"/>
              </a:rPr>
              <a:t>19x… / 20x…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5707" y="2340864"/>
            <a:ext cx="22158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0" i="0">
                <a:solidFill>
                  <a:srgbClr val="0F172A"/>
                </a:solidFill>
                <a:latin typeface="Tahoma"/>
              </a:rPr>
              <a:t>เชื่อม Sales Person · เจ้าของ SO/Quote · ผลงานรายคน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1627632"/>
            <a:ext cx="2581579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7287" y="1627632"/>
            <a:ext cx="2581579" cy="502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167" y="1773936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7C3AED"/>
                </a:solidFill>
                <a:latin typeface="Tahoma"/>
              </a:rPr>
              <a:t>industry_group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048256"/>
            <a:ext cx="22158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Tahoma"/>
              </a:rPr>
              <a:t>CH14 · FD05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22158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0" i="0">
                <a:solidFill>
                  <a:srgbClr val="0F172A"/>
                </a:solidFill>
                <a:latin typeface="Tahoma"/>
              </a:rPr>
              <a:t>รหัสอุตสาหกรรม → group_map.json → กลุ่มขาย A–D/R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1747" y="1627632"/>
            <a:ext cx="2581579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51747" y="1627632"/>
            <a:ext cx="2581579" cy="5029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627" y="1773936"/>
            <a:ext cx="22158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Tahoma"/>
              </a:rPr>
              <a:t>ชื่อบริษัท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627" y="2048256"/>
            <a:ext cx="22158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64748B"/>
                </a:solidFill>
                <a:latin typeface="Tahoma"/>
              </a:rPr>
              <a:t>ไทย ↔ จดทะเบียน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627" y="2340864"/>
            <a:ext cx="22158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0" i="0">
                <a:solidFill>
                  <a:srgbClr val="0F172A"/>
                </a:solidFill>
                <a:latin typeface="Tahoma"/>
              </a:rPr>
              <a:t>จับคู่กับทะเบียนโรงงาน DIW/DBD (จับได้ ~30%)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346704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Tahoma"/>
              </a:rPr>
              <a:t>กติกาการแบ่งกลุ่มขาย (group_map.json)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639312"/>
            <a:ext cx="56692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60" b="1">
                <a:solidFill>
                  <a:srgbClr val="1D4ED8"/>
                </a:solidFill>
                <a:latin typeface="Tahoma"/>
              </a:rPr>
              <a:t>▪  </a:t>
            </a:r>
            <a:r>
              <a:rPr sz="960" b="1">
                <a:solidFill>
                  <a:srgbClr val="0F172A"/>
                </a:solidFill>
                <a:latin typeface="Tahoma"/>
              </a:rPr>
              <a:t>1) รหัสอุตสาหกรรม (IndCode) </a:t>
            </a:r>
            <a:r>
              <a:rPr sz="960">
                <a:solidFill>
                  <a:srgbClr val="64748B"/>
                </a:solidFill>
                <a:latin typeface="Tahoma"/>
              </a:rPr>
              <a:t>เป็นตัวตัดสินหลักว่าลูกค้าอยู่กลุ่มใด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60" b="1">
                <a:solidFill>
                  <a:srgbClr val="1D4ED8"/>
                </a:solidFill>
                <a:latin typeface="Tahoma"/>
              </a:rPr>
              <a:t>▪  </a:t>
            </a:r>
            <a:r>
              <a:rPr sz="960" b="1">
                <a:solidFill>
                  <a:srgbClr val="0F172A"/>
                </a:solidFill>
                <a:latin typeface="Tahoma"/>
              </a:rPr>
              <a:t>2) จังหวัดระยอง </a:t>
            </a:r>
            <a:r>
              <a:rPr sz="960">
                <a:solidFill>
                  <a:srgbClr val="64748B"/>
                </a:solidFill>
                <a:latin typeface="Tahoma"/>
              </a:rPr>
              <a:t>→ กลุ่ม R (Eastern Hub) แม้รหัสจะชี้กลุ่มอื่น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60" b="1">
                <a:solidFill>
                  <a:srgbClr val="1D4ED8"/>
                </a:solidFill>
                <a:latin typeface="Tahoma"/>
              </a:rPr>
              <a:t>▪  </a:t>
            </a:r>
            <a:r>
              <a:rPr sz="960" b="1">
                <a:solidFill>
                  <a:srgbClr val="0F172A"/>
                </a:solidFill>
                <a:latin typeface="Tahoma"/>
              </a:rPr>
              <a:t>3) ชื่อลูกค้า (override) </a:t>
            </a:r>
            <a:r>
              <a:rPr sz="960">
                <a:solidFill>
                  <a:srgbClr val="64748B"/>
                </a:solidFill>
                <a:latin typeface="Tahoma"/>
              </a:rPr>
              <a:t>ชนะทุกกติกา เช่น PTTGC / PTTME → กลุ่ม R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60" b="1">
                <a:solidFill>
                  <a:srgbClr val="1D4ED8"/>
                </a:solidFill>
                <a:latin typeface="Tahoma"/>
              </a:rPr>
              <a:t>▪  </a:t>
            </a:r>
            <a:r>
              <a:rPr sz="960" b="1">
                <a:solidFill>
                  <a:srgbClr val="0F172A"/>
                </a:solidFill>
                <a:latin typeface="Tahoma"/>
              </a:rPr>
              <a:t>SV01 / SV04 / OM </a:t>
            </a:r>
            <a:r>
              <a:rPr sz="960">
                <a:solidFill>
                  <a:srgbClr val="64748B"/>
                </a:solidFill>
                <a:latin typeface="Tahoma"/>
              </a:rPr>
              <a:t>เป็นงานร่วม (ตามโครงการ) ไม่ผูกกลุ่มเดียว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60" b="1">
                <a:solidFill>
                  <a:srgbClr val="1D4ED8"/>
                </a:solidFill>
                <a:latin typeface="Tahoma"/>
              </a:rPr>
              <a:t>▪  </a:t>
            </a:r>
            <a:r>
              <a:rPr sz="960" b="1">
                <a:solidFill>
                  <a:srgbClr val="0F172A"/>
                </a:solidFill>
                <a:latin typeface="Tahoma"/>
              </a:rPr>
              <a:t>ยอดที่ map ไม่ได้ </a:t>
            </a:r>
            <a:r>
              <a:rPr sz="960">
                <a:solidFill>
                  <a:srgbClr val="64748B"/>
                </a:solidFill>
                <a:latin typeface="Tahoma"/>
              </a:rPr>
              <a:t>→ กลุ่ม U (unmapped) และไม่ถูกนับเข้ากลุ่มใด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7688" y="3602736"/>
            <a:ext cx="4885639" cy="2212848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143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730752"/>
            <a:ext cx="44741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DC2626"/>
                </a:solidFill>
                <a:latin typeface="Tahoma"/>
              </a:rPr>
              <a:t>จุดที่ต้องระวัง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023360"/>
            <a:ext cx="4474159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991B1B"/>
                </a:solidFill>
                <a:latin typeface="Tahoma"/>
              </a:rPr>
              <a:t>· ยอดที่ map กลุ่มไม่ได้ = 82.80 M (≈19% ของยอดปี) อยู่ในกลุ่ม U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991B1B"/>
                </a:solidFill>
                <a:latin typeface="Tahoma"/>
              </a:rPr>
              <a:t>· ลูกค้าที่ไม่มีรหัสอุตสาหกรรมใน CRM (8%) จะหลุดจากกลุ่ม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991B1B"/>
                </a:solidFill>
                <a:latin typeface="Tahoma"/>
              </a:rPr>
              <a:t>· ชื่อไทยใน CRM ≠ ชื่อจดทะเบียนเต็ม → DBD จับคู่ได้เพียง ~30%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991B1B"/>
                </a:solidFill>
                <a:latin typeface="Tahoma"/>
              </a:rPr>
              <a:t>· ยอดใน SO บางใบไม่มี sales_id → ใช้เจ้าของลูกค้า (owner_id) แทน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991B1B"/>
                </a:solidFill>
                <a:latin typeface="Tahoma"/>
              </a:rPr>
              <a:t>· vtiger ไม่รับ ORDER BY → ต้องไล่หน้าจนว่างแล้ว dedupe ด้วย 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455664"/>
            <a:ext cx="10874959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54710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Tahoma"/>
              </a:rPr>
              <a:t>ที่มา: data_sources.md §join key · README_Architecture.md §4 · _CORE_Private/group_map.json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10367" y="6547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Tahom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01 · ผังการเก็บข้อมูล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คุณภาพข้อมูล — จุดแข็ง และข้อจำกัดที่ต้องอ่านคู่กับตัวเลข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5300319" cy="3977639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143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059669"/>
                </a:solidFill>
                <a:latin typeface="Tahoma"/>
              </a:rPr>
              <a:t>✓  จุดแข็ง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39696"/>
            <a:ext cx="4824831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059669"/>
                </a:solidFill>
                <a:latin typeface="Tahoma"/>
              </a:rPr>
              <a:t>▪  </a:t>
            </a:r>
            <a:r>
              <a:rPr sz="980" b="1">
                <a:solidFill>
                  <a:srgbClr val="0F172A"/>
                </a:solidFill>
                <a:latin typeface="Tahoma"/>
              </a:rPr>
              <a:t>ไม่มี mock เหลือในข้อมูลที่ใช้จริง </a:t>
            </a:r>
            <a:r>
              <a:rPr sz="980">
                <a:solidFill>
                  <a:srgbClr val="64748B"/>
                </a:solidFill>
                <a:latin typeface="Tahoma"/>
              </a:rPr>
              <a:t>— ทุกไฟล์เป็นข้อมูลจริง (ตรวจ 24 ก.ย. 2569)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059669"/>
                </a:solidFill>
                <a:latin typeface="Tahoma"/>
              </a:rPr>
              <a:t>▪  </a:t>
            </a:r>
            <a:r>
              <a:rPr sz="980" b="1">
                <a:solidFill>
                  <a:srgbClr val="0F172A"/>
                </a:solidFill>
                <a:latin typeface="Tahoma"/>
              </a:rPr>
              <a:t>ทุก KPI คำนวณสดจาก CSV </a:t>
            </a:r>
            <a:r>
              <a:rPr sz="980">
                <a:solidFill>
                  <a:srgbClr val="64748B"/>
                </a:solidFill>
                <a:latin typeface="Tahoma"/>
              </a:rPr>
              <a:t>— ไม่มีค่าฮาร์ดโค้ด; KPI ที่ไม่มีแหล่งข้อมูลถูกถอดออก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059669"/>
                </a:solidFill>
                <a:latin typeface="Tahoma"/>
              </a:rPr>
              <a:t>▪  </a:t>
            </a:r>
            <a:r>
              <a:rPr sz="980" b="1">
                <a:solidFill>
                  <a:srgbClr val="0F172A"/>
                </a:solidFill>
                <a:latin typeface="Tahoma"/>
              </a:rPr>
              <a:t>ตรวจย้อนได้ </a:t>
            </a:r>
            <a:r>
              <a:rPr sz="980">
                <a:solidFill>
                  <a:srgbClr val="64748B"/>
                </a:solidFill>
                <a:latin typeface="Tahoma"/>
              </a:rPr>
              <a:t>— ทุกหน้าบอกไฟล์ต้นทาง; เปิดไฟล์ตรวจเองได้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059669"/>
                </a:solidFill>
                <a:latin typeface="Tahoma"/>
              </a:rPr>
              <a:t>▪  </a:t>
            </a:r>
            <a:r>
              <a:rPr sz="980" b="1">
                <a:solidFill>
                  <a:srgbClr val="0F172A"/>
                </a:solidFill>
                <a:latin typeface="Tahoma"/>
              </a:rPr>
              <a:t>อัปเดตอัตโนมัติ </a:t>
            </a:r>
            <a:r>
              <a:rPr sz="980">
                <a:solidFill>
                  <a:srgbClr val="64748B"/>
                </a:solidFill>
                <a:latin typeface="Tahoma"/>
              </a:rPr>
              <a:t>— วันละ 2 รอบ + รายสัปดาห์/รายเดือน พร้อม log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980" b="1">
                <a:solidFill>
                  <a:srgbClr val="059669"/>
                </a:solidFill>
                <a:latin typeface="Tahoma"/>
              </a:rPr>
              <a:t>▪  </a:t>
            </a:r>
            <a:r>
              <a:rPr sz="980" b="1">
                <a:solidFill>
                  <a:srgbClr val="0F172A"/>
                </a:solidFill>
                <a:latin typeface="Tahoma"/>
              </a:rPr>
              <a:t>คำนวณล่วงหน้า </a:t>
            </a:r>
            <a:r>
              <a:rPr sz="980">
                <a:solidFill>
                  <a:srgbClr val="64748B"/>
                </a:solidFill>
                <a:latin typeface="Tahoma"/>
              </a:rPr>
              <a:t>— ชั้น 12–17 ทำให้หน้าเว็บเปิดเร็ว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27632"/>
            <a:ext cx="5300319" cy="3977639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143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0751" y="17556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C2626"/>
                </a:solidFill>
                <a:latin typeface="Tahoma"/>
              </a:rPr>
              <a:t>!  ข้อจำกัด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0751" y="2139696"/>
            <a:ext cx="4824831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80" b="1">
                <a:solidFill>
                  <a:srgbClr val="DC2626"/>
                </a:solidFill>
                <a:latin typeface="Tahoma"/>
              </a:rPr>
              <a:t>▪  </a:t>
            </a:r>
            <a:r>
              <a:rPr sz="980" b="1">
                <a:solidFill>
                  <a:srgbClr val="0F172A"/>
                </a:solidFill>
                <a:latin typeface="Tahoma"/>
              </a:rPr>
              <a:t>industry ไม่ครบ 100% </a:t>
            </a:r>
            <a:r>
              <a:rPr sz="980">
                <a:solidFill>
                  <a:srgbClr val="64748B"/>
                </a:solidFill>
                <a:latin typeface="Tahoma"/>
              </a:rPr>
              <a:t>— 92% ของลูกค้ามีรหัส, ที่เหลือหลุดจากกลุ่ม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80" b="1">
                <a:solidFill>
                  <a:srgbClr val="DC2626"/>
                </a:solidFill>
                <a:latin typeface="Tahoma"/>
              </a:rPr>
              <a:t>▪  </a:t>
            </a:r>
            <a:r>
              <a:rPr sz="980" b="1">
                <a:solidFill>
                  <a:srgbClr val="0F172A"/>
                </a:solidFill>
                <a:latin typeface="Tahoma"/>
              </a:rPr>
              <a:t>ยอด map กลุ่มไม่ได้ 82.80 M </a:t>
            </a:r>
            <a:r>
              <a:rPr sz="980">
                <a:solidFill>
                  <a:srgbClr val="64748B"/>
                </a:solidFill>
                <a:latin typeface="Tahoma"/>
              </a:rPr>
              <a:t>— 20.9% ของยอดปี อยู่ในกลุ่ม U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80" b="1">
                <a:solidFill>
                  <a:srgbClr val="DC2626"/>
                </a:solidFill>
                <a:latin typeface="Tahoma"/>
              </a:rPr>
              <a:t>▪  </a:t>
            </a:r>
            <a:r>
              <a:rPr sz="980" b="1">
                <a:solidFill>
                  <a:srgbClr val="0F172A"/>
                </a:solidFill>
                <a:latin typeface="Tahoma"/>
              </a:rPr>
              <a:t>DBD จับคู่ ~30% </a:t>
            </a:r>
            <a:r>
              <a:rPr sz="980">
                <a:solidFill>
                  <a:srgbClr val="64748B"/>
                </a:solidFill>
                <a:latin typeface="Tahoma"/>
              </a:rPr>
              <a:t>— บริษัทเทรดดิ้งที่ไม่มีโรงงานจะไม่เจอ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80" b="1">
                <a:solidFill>
                  <a:srgbClr val="DC2626"/>
                </a:solidFill>
                <a:latin typeface="Tahoma"/>
              </a:rPr>
              <a:t>▪  </a:t>
            </a:r>
            <a:r>
              <a:rPr sz="980" b="1">
                <a:solidFill>
                  <a:srgbClr val="0F172A"/>
                </a:solidFill>
                <a:latin typeface="Tahoma"/>
              </a:rPr>
              <a:t>contact_person ว่าง </a:t>
            </a:r>
            <a:r>
              <a:rPr sz="980">
                <a:solidFill>
                  <a:srgbClr val="64748B"/>
                </a:solidFill>
                <a:latin typeface="Tahoma"/>
              </a:rPr>
              <a:t>— ยังไม่ได้ join CRM Contacts (8,453 ราย)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80" b="1">
                <a:solidFill>
                  <a:srgbClr val="DC2626"/>
                </a:solidFill>
                <a:latin typeface="Tahoma"/>
              </a:rPr>
              <a:t>▪  </a:t>
            </a:r>
            <a:r>
              <a:rPr sz="980" b="1">
                <a:solidFill>
                  <a:srgbClr val="0F172A"/>
                </a:solidFill>
                <a:latin typeface="Tahoma"/>
              </a:rPr>
              <a:t>ไม่มี win/loss reason </a:t>
            </a:r>
            <a:r>
              <a:rPr sz="980">
                <a:solidFill>
                  <a:srgbClr val="64748B"/>
                </a:solidFill>
                <a:latin typeface="Tahoma"/>
              </a:rPr>
              <a:t>— CRM ไม่ได้เก็บ จึงวิเคราะห์สาเหตุแพ้ไม่ได้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980" b="1">
                <a:solidFill>
                  <a:srgbClr val="DC2626"/>
                </a:solidFill>
                <a:latin typeface="Tahoma"/>
              </a:rPr>
              <a:t>▪  </a:t>
            </a:r>
            <a:r>
              <a:rPr sz="980" b="1">
                <a:solidFill>
                  <a:srgbClr val="0F172A"/>
                </a:solidFill>
                <a:latin typeface="Tahoma"/>
              </a:rPr>
              <a:t>ค่า macro บางค่าคงที่ในสคริปต์ </a:t>
            </a:r>
            <a:r>
              <a:rPr sz="980">
                <a:solidFill>
                  <a:srgbClr val="64748B"/>
                </a:solidFill>
                <a:latin typeface="Tahoma"/>
              </a:rPr>
              <a:t>— MPI / ดอกเบี้ย ควรตรวจกับต้นฉบับก่อนใช้ตัดสินใจ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455664"/>
            <a:ext cx="10874959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54710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Tahoma"/>
              </a:rPr>
              <a:t>ที่มา: README.md §ความถูกต้องของข้อมูล · Data_Dictionary_and_Schedule.md §ข้อที่ยังต่อยอดได้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10367" y="6547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Tahom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0" b="1" i="0">
                <a:solidFill>
                  <a:srgbClr val="334155"/>
                </a:solidFill>
                <a:latin typeface="Tahom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3464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Tahoma"/>
              </a:rPr>
              <a:t>การนำเสนอข้อมูล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65760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Tahoma"/>
              </a:rPr>
              <a:t>จากไฟล์ CSV สู่หน้าจอที่คนใช้งานได้จริง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7200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Tahoma"/>
              </a:rPr>
              <a:t>— สิทธิ์การเข้าถึงตามบทบาท (role-based)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90118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Tahoma"/>
              </a:rPr>
              <a:t>— แดชบอร์ด 8 หน้า — เห็นอะไร และอ่านอย่างไร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5230368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Tahoma"/>
              </a:rPr>
              <a:t>— ที่มาของทุกตัวเลขบนหน้าจอ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55595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CBD5E1"/>
                </a:solidFill>
                <a:latin typeface="Tahoma"/>
              </a:rPr>
              <a:t>— การโฮสต์ และแผนพัฒนาต่อ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02 · การนำเสนอข้อมูล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ใครเห็นอะไร — สิทธิ์ตามบทบาท (Role-based)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1867753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1648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7C3AED"/>
                </a:solidFill>
                <a:latin typeface="Tahoma"/>
              </a:rP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29968"/>
            <a:ext cx="1648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0" b="0" i="0">
                <a:solidFill>
                  <a:srgbClr val="64748B"/>
                </a:solidFill>
                <a:latin typeface="Tahoma"/>
              </a:rPr>
              <a:t>auth.js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8417" y="1938528"/>
            <a:ext cx="219456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10169" y="1645920"/>
            <a:ext cx="1867753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9897" y="1755648"/>
            <a:ext cx="1648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7C3AED"/>
                </a:solidFill>
                <a:latin typeface="Tahoma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9897" y="2029968"/>
            <a:ext cx="1648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0" b="0" i="0">
                <a:solidFill>
                  <a:srgbClr val="64748B"/>
                </a:solidFill>
                <a:latin typeface="Tahoma"/>
              </a:rPr>
              <a:t>6 บทบาท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60218" y="1938528"/>
            <a:ext cx="219456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61970" y="1645920"/>
            <a:ext cx="1867753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1698" y="1755648"/>
            <a:ext cx="1648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7C3AED"/>
                </a:solidFill>
                <a:latin typeface="Tahoma"/>
              </a:rPr>
              <a:t>เมนู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1698" y="2029968"/>
            <a:ext cx="1648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0" b="0" i="0">
                <a:solidFill>
                  <a:srgbClr val="64748B"/>
                </a:solidFill>
                <a:latin typeface="Tahoma"/>
              </a:rPr>
              <a:t>router.renderNav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12020" y="1938528"/>
            <a:ext cx="219456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13772" y="1645920"/>
            <a:ext cx="1867753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3500" y="1755648"/>
            <a:ext cx="1648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7C3AED"/>
                </a:solidFill>
                <a:latin typeface="Tahoma"/>
              </a:rPr>
              <a:t>หน้า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3500" y="2029968"/>
            <a:ext cx="1648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0" b="0" i="0">
                <a:solidFill>
                  <a:srgbClr val="64748B"/>
                </a:solidFill>
                <a:latin typeface="Tahoma"/>
              </a:rPr>
              <a:t>views/*.html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63821" y="1938528"/>
            <a:ext cx="219456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65573" y="1645920"/>
            <a:ext cx="1867753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75301" y="1755648"/>
            <a:ext cx="1648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7C3AED"/>
                </a:solidFill>
                <a:latin typeface="Tahoma"/>
              </a:rPr>
              <a:t>ข้อมูล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5301" y="2029968"/>
            <a:ext cx="164829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60" b="0" i="0">
                <a:solidFill>
                  <a:srgbClr val="64748B"/>
                </a:solidFill>
                <a:latin typeface="Tahoma"/>
              </a:rPr>
              <a:t>RAW_Data/*.csv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58368" y="2743200"/>
          <a:ext cx="10899647" cy="2029968"/>
        </p:xfrm>
        <a:graphic>
          <a:graphicData uri="http://schemas.openxmlformats.org/drawingml/2006/table">
            <a:tbl>
              <a:tblPr firstRow="0" bandRow="0"/>
              <a:tblGrid>
                <a:gridCol w="2148840"/>
                <a:gridCol w="4617720"/>
                <a:gridCol w="4133087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ahoma"/>
                        </a:rPr>
                        <a:t>บัญชี / สิทธิ์</a:t>
                      </a:r>
                    </a:p>
                  </a:txBody>
                  <a:tcPr marL="82296" marR="82296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ahoma"/>
                        </a:rPr>
                        <a:t>หน้าที่เข้าถึงได้</a:t>
                      </a:r>
                    </a:p>
                  </a:txBody>
                  <a:tcPr marL="82296" marR="82296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ahoma"/>
                        </a:rPr>
                        <a:t>หมายเหตุการใช้งาน</a:t>
                      </a:r>
                    </a:p>
                  </a:txBody>
                  <a:tcPr marL="82296" marR="82296" marT="36576" marB="36576" anchor="ctr"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0F172A"/>
                          </a:solidFill>
                          <a:latin typeface="Tahoma"/>
                        </a:rPr>
                        <a:t>admin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0F172A"/>
                          </a:solidFill>
                          <a:latin typeface="Tahoma"/>
                        </a:rPr>
                        <a:t>8 หน้า — ภาพรวม + กลุ่ม A/B/C/D/R + สต็อก + เศรษฐกิจ/BOI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0F172A"/>
                          </a:solidFill>
                          <a:latin typeface="Tahoma"/>
                        </a:rPr>
                        <a:t>ใช้เป็นบัญชีกลางของทีม (ล็อกอินอัตโนมัติ)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0F172A"/>
                          </a:solidFill>
                          <a:latin typeface="Tahoma"/>
                        </a:rPr>
                        <a:t>group_a … group_r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0F172A"/>
                          </a:solidFill>
                          <a:latin typeface="Tahoma"/>
                        </a:rPr>
                        <a:t>กลุ่มของตัวเอง + สต็อก + เศรษฐกิจ/BOI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0F172A"/>
                          </a:solidFill>
                          <a:latin typeface="Tahoma"/>
                        </a:rPr>
                        <a:t>หัวหน้ากลุ่มเห็นเฉพาะยอดกลุ่มตน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80" b="1">
                          <a:solidFill>
                            <a:srgbClr val="0F172A"/>
                          </a:solidFill>
                          <a:latin typeface="Tahoma"/>
                        </a:rPr>
                        <a:t>หน้า Open Quotations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0F172A"/>
                          </a:solidFill>
                          <a:latin typeface="Tahoma"/>
                        </a:rPr>
                        <a:t>ล็อกกลุ่มอัตโนมัติตาม role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0" b="0">
                          <a:solidFill>
                            <a:srgbClr val="0F172A"/>
                          </a:solidFill>
                          <a:latin typeface="Tahoma"/>
                        </a:rPr>
                        <a:t>หัวหน้ากลุ่มเห็นเฉพาะดีลค้างของกลุ่มตัวเอง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58368" y="4956048"/>
            <a:ext cx="10874959" cy="1298448"/>
          </a:xfrm>
          <a:prstGeom prst="roundRect">
            <a:avLst>
              <a:gd name="adj" fmla="val 5000"/>
            </a:avLst>
          </a:prstGeom>
          <a:solidFill>
            <a:srgbClr val="FEF9EC"/>
          </a:solidFill>
          <a:ln w="1143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5065776"/>
            <a:ext cx="104360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92400E"/>
                </a:solidFill>
                <a:latin typeface="Tahoma"/>
              </a:rPr>
              <a:t>ข้อควรรู้เรื่องความปลอดภัย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5358384"/>
            <a:ext cx="104360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40" b="0" i="0">
                <a:solidFill>
                  <a:srgbClr val="92400E"/>
                </a:solidFill>
                <a:latin typeface="Tahoma"/>
              </a:rPr>
              <a:t>การล็อกอินทำที่ฝั่งเบราว์เซอร์ (js/auth.js) — รหัสอยู่ในไฟล์ที่ใครเปิด View Source ก็เห็น จึงใช้เพื่อ “แบ่งหน้าจอตามบทบาท” ไม่ใช่กำแพงป้องกันข้อมูล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40" b="0" i="0">
                <a:solidFill>
                  <a:srgbClr val="92400E"/>
                </a:solidFill>
                <a:latin typeface="Tahoma"/>
              </a:rPr>
              <a:t>ชั้นป้องกันจริงต้องมาจากเครือข่าย: เปิดเฉพาะใน Tailscale / LAN หรือใส่ Cloudflare Access หน้าเว็บ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455664"/>
            <a:ext cx="10874959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54710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Tahoma"/>
              </a:rPr>
              <a:t>ที่มา: Dashboard_App/js/auth.js · router.js · open_quotes.js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10367" y="6547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Tahom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02 · การนำเสนอข้อมูล · หน้า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EPS Overview — ภาพรวมทั้งธุรกิจ (หน้าแรกที่ทุกคนเห็น)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Tahoma"/>
              </a:rPr>
              <a:t>มีอะไรบนหน้านี้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83664"/>
            <a:ext cx="5623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60" b="1">
                <a:solidFill>
                  <a:srgbClr val="7C3AED"/>
                </a:solidFill>
                <a:latin typeface="Tahoma"/>
              </a:rPr>
              <a:t>▪  </a:t>
            </a:r>
            <a:r>
              <a:rPr sz="960" b="1">
                <a:solidFill>
                  <a:srgbClr val="0F172A"/>
                </a:solidFill>
                <a:latin typeface="Tahoma"/>
              </a:rPr>
              <a:t>KPI 4 ใบ </a:t>
            </a:r>
            <a:r>
              <a:rPr sz="960">
                <a:solidFill>
                  <a:srgbClr val="64748B"/>
                </a:solidFill>
                <a:latin typeface="Tahoma"/>
              </a:rPr>
              <a:t>— Revenue YTD · จำนวน SO · ลูกค้าที่ยังซื้อ · Hot Jobs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60" b="1">
                <a:solidFill>
                  <a:srgbClr val="7C3AED"/>
                </a:solidFill>
                <a:latin typeface="Tahoma"/>
              </a:rPr>
              <a:t>▪  </a:t>
            </a:r>
            <a:r>
              <a:rPr sz="960" b="1">
                <a:solidFill>
                  <a:srgbClr val="0F172A"/>
                </a:solidFill>
                <a:latin typeface="Tahoma"/>
              </a:rPr>
              <a:t>กราฟ 5 กลุ่ม </a:t>
            </a:r>
            <a:r>
              <a:rPr sz="960">
                <a:solidFill>
                  <a:srgbClr val="64748B"/>
                </a:solidFill>
                <a:latin typeface="Tahoma"/>
              </a:rPr>
              <a:t>— ยอดจริงเทียบเป้าแผนปี 2026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60" b="1">
                <a:solidFill>
                  <a:srgbClr val="7C3AED"/>
                </a:solidFill>
                <a:latin typeface="Tahoma"/>
              </a:rPr>
              <a:t>▪  </a:t>
            </a:r>
            <a:r>
              <a:rPr sz="960" b="1">
                <a:solidFill>
                  <a:srgbClr val="0F172A"/>
                </a:solidFill>
                <a:latin typeface="Tahoma"/>
              </a:rPr>
              <a:t>กราฟสะสม </a:t>
            </a:r>
            <a:r>
              <a:rPr sz="960">
                <a:solidFill>
                  <a:srgbClr val="64748B"/>
                </a:solidFill>
                <a:latin typeface="Tahoma"/>
              </a:rPr>
              <a:t>— Revenue สะสมรายเดือนเทียบเส้นเป้า (คำนวณสดจาก 3_SO_Data)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60" b="1">
                <a:solidFill>
                  <a:srgbClr val="7C3AED"/>
                </a:solidFill>
                <a:latin typeface="Tahoma"/>
              </a:rPr>
              <a:t>▪  </a:t>
            </a:r>
            <a:r>
              <a:rPr sz="960" b="1">
                <a:solidFill>
                  <a:srgbClr val="0F172A"/>
                </a:solidFill>
                <a:latin typeface="Tahoma"/>
              </a:rPr>
              <a:t>AI Action Plan </a:t>
            </a:r>
            <a:r>
              <a:rPr sz="960">
                <a:solidFill>
                  <a:srgbClr val="64748B"/>
                </a:solidFill>
                <a:latin typeface="Tahoma"/>
              </a:rPr>
              <a:t>— ระบบสร้างข้อเสนอเชิงปฏิบัติจากช่องว่างเป้า + สถานะดีล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60" b="1">
                <a:solidFill>
                  <a:srgbClr val="7C3AED"/>
                </a:solidFill>
                <a:latin typeface="Tahoma"/>
              </a:rPr>
              <a:t>▪  </a:t>
            </a:r>
            <a:r>
              <a:rPr sz="960" b="1">
                <a:solidFill>
                  <a:srgbClr val="0F172A"/>
                </a:solidFill>
                <a:latin typeface="Tahoma"/>
              </a:rPr>
              <a:t>Hot Jobs </a:t>
            </a:r>
            <a:r>
              <a:rPr sz="960">
                <a:solidFill>
                  <a:srgbClr val="64748B"/>
                </a:solidFill>
                <a:latin typeface="Tahoma"/>
              </a:rPr>
              <a:t>— ดีล Pending ที่มีโอกาส ≥ 70% รวม 176 ดีล / 72.02 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310128"/>
            <a:ext cx="2738628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328416"/>
            <a:ext cx="50292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429000"/>
            <a:ext cx="23728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4748B"/>
                </a:solidFill>
                <a:latin typeface="Tahoma"/>
              </a:rPr>
              <a:t>Revenue YTD (2026)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675888"/>
            <a:ext cx="1325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D4ED8"/>
                </a:solidFill>
                <a:latin typeface="Tahoma"/>
              </a:rPr>
              <a:t>174.98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7" y="3712464"/>
            <a:ext cx="1165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 i="0">
                <a:solidFill>
                  <a:srgbClr val="64748B"/>
                </a:solidFill>
                <a:latin typeface="Tahoma"/>
              </a:rPr>
              <a:t>M THB · เป้า 453.55 M = 39%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3300" y="3310128"/>
            <a:ext cx="2738628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3300" y="3328416"/>
            <a:ext cx="50292" cy="78638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4468" y="3429000"/>
            <a:ext cx="23728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4748B"/>
                </a:solidFill>
                <a:latin typeface="Tahoma"/>
              </a:rPr>
              <a:t>Sales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4468" y="3675888"/>
            <a:ext cx="1325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0EA5E9"/>
                </a:solidFill>
                <a:latin typeface="Tahoma"/>
              </a:rPr>
              <a:t>1,057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4900" y="3712464"/>
            <a:ext cx="1165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 i="0">
                <a:solidFill>
                  <a:srgbClr val="64748B"/>
                </a:solidFill>
                <a:latin typeface="Tahoma"/>
              </a:rPr>
              <a:t>ใบ · ปี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24528"/>
            <a:ext cx="2738628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242816"/>
            <a:ext cx="50292" cy="78638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343400"/>
            <a:ext cx="23728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4748B"/>
                </a:solidFill>
                <a:latin typeface="Tahoma"/>
              </a:rPr>
              <a:t>Active 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590288"/>
            <a:ext cx="1325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0D9488"/>
                </a:solidFill>
                <a:latin typeface="Tahoma"/>
              </a:rPr>
              <a:t>359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7" y="4626864"/>
            <a:ext cx="1165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 i="0">
                <a:solidFill>
                  <a:srgbClr val="64748B"/>
                </a:solidFill>
                <a:latin typeface="Tahoma"/>
              </a:rPr>
              <a:t>ราย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3300" y="4224528"/>
            <a:ext cx="2738628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43300" y="4242816"/>
            <a:ext cx="50292" cy="78638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4468" y="4343400"/>
            <a:ext cx="23728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4748B"/>
                </a:solidFill>
                <a:latin typeface="Tahoma"/>
              </a:rPr>
              <a:t>Hot Jobs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4468" y="4590288"/>
            <a:ext cx="1325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D97706"/>
                </a:solidFill>
                <a:latin typeface="Tahoma"/>
              </a:rPr>
              <a:t>72.02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4900" y="4626864"/>
            <a:ext cx="11658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 i="0">
                <a:solidFill>
                  <a:srgbClr val="64748B"/>
                </a:solidFill>
                <a:latin typeface="Tahoma"/>
              </a:rPr>
              <a:t>M THB · 176 ดีล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30368"/>
            <a:ext cx="5623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64748B"/>
                </a:solidFill>
                <a:latin typeface="Tahoma"/>
              </a:rPr>
              <a:t>ที่มาของตัวเลข: 0_EPS_Overview_2026.csv (สร้างโดย build_overview.py) + 3_SO_Data.csv + 0_EPS_HotJobs_2026.csv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1609344"/>
            <a:ext cx="4956048" cy="4114800"/>
          </a:xfrm>
          <a:prstGeom prst="roundRect">
            <a:avLst>
              <a:gd name="adj" fmla="val 2000"/>
            </a:avLst>
          </a:prstGeom>
          <a:solidFill>
            <a:srgbClr val="FCFDFE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65976" y="1755648"/>
            <a:ext cx="2240280" cy="18288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9984" y="1801368"/>
            <a:ext cx="211226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EPS OVERVIEW — FY 2026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65976" y="2011680"/>
            <a:ext cx="1097280" cy="56692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9984" y="2057400"/>
            <a:ext cx="9692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KPI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36408" y="2011680"/>
            <a:ext cx="1097280" cy="56692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0416" y="2057400"/>
            <a:ext cx="9692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KPI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2011680"/>
            <a:ext cx="1097280" cy="56692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70848" y="2057400"/>
            <a:ext cx="9692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KPI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77272" y="2011680"/>
            <a:ext cx="1188720" cy="56692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0" y="2057400"/>
            <a:ext cx="106070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KPI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65976" y="2688336"/>
            <a:ext cx="2377440" cy="141732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9984" y="2734056"/>
            <a:ext cx="2249424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กราฟ 5 กลุ่ม: actual vs target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53144" y="2688336"/>
            <a:ext cx="2212848" cy="141732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7152" y="2734056"/>
            <a:ext cx="2084831" cy="1344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กราฟสะสม vs เป้า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5976" y="4215384"/>
            <a:ext cx="4700016" cy="13716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9984" y="4261104"/>
            <a:ext cx="457200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AI Action Plan (ข้อเสนอเชิงปฏิบัติ)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6455664"/>
            <a:ext cx="10874959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654710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Tahoma"/>
              </a:rPr>
              <a:t>ภาพจำลองเลย์เอาต์ (wireframe) — หน้าจริงมีตัวเลขและกราฟจริงตามข้อมูล CSV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10367" y="6547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Tahom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02 · การนำเสนอข้อมูล · หน้า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Group A / B / C / D / R — เจาะลึกรายกลุ่มขาย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Tahoma"/>
              </a:rPr>
              <a:t>KPI 4 ใบต่อกลุ่ม (ตัวอย่าง: กลุ่ม 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1764792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47088"/>
            <a:ext cx="50292" cy="14447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65960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64748B"/>
                </a:solidFill>
                <a:latin typeface="Tahoma"/>
              </a:rPr>
              <a:t>Revenue 12 เดือน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50008"/>
            <a:ext cx="1380744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0EA5E9"/>
                </a:solidFill>
                <a:latin typeface="Tahoma"/>
              </a:rPr>
              <a:t>24.34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50820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Tahoma"/>
              </a:rPr>
              <a:t>M THB · เป้า 73.85 M · ขาด 49.51 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87752" y="1828800"/>
            <a:ext cx="1764792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87752" y="1847088"/>
            <a:ext cx="50292" cy="14447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7208" y="1965960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64748B"/>
                </a:solidFill>
                <a:latin typeface="Tahoma"/>
              </a:rPr>
              <a:t>Active Accounts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2350008"/>
            <a:ext cx="1380744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0D9488"/>
                </a:solidFill>
                <a:latin typeface="Tahoma"/>
              </a:rPr>
              <a:t>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2750820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Tahoma"/>
              </a:rPr>
              <a:t>จาก 472 · โรงงาน &gt;100M ที่ครอบคลุม 143/940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17136" y="1828800"/>
            <a:ext cx="1764792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7136" y="1847088"/>
            <a:ext cx="50292" cy="14447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1965960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64748B"/>
                </a:solidFill>
                <a:latin typeface="Tahoma"/>
              </a:rPr>
              <a:t>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167128"/>
            <a:ext cx="1380744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7C3AED"/>
                </a:solidFill>
                <a:latin typeface="Tahoma"/>
              </a:rPr>
              <a:t>82.0%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2567940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Tahoma"/>
              </a:rPr>
              <a:t>นับจำนวน / 64.4% นับมูลค่า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456432"/>
            <a:ext cx="562356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474720"/>
            <a:ext cx="50292" cy="9235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3593591"/>
            <a:ext cx="5239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64748B"/>
                </a:solidFill>
                <a:latin typeface="Tahoma"/>
              </a:rPr>
              <a:t>Open Quotations (กลุ่ม 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3794759"/>
            <a:ext cx="523951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 i="0">
                <a:solidFill>
                  <a:srgbClr val="D97706"/>
                </a:solidFill>
                <a:latin typeface="Tahoma"/>
              </a:rPr>
              <a:t>623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4195572"/>
            <a:ext cx="5239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Tahoma"/>
              </a:rPr>
              <a:t>ดีลค้าง · ใบเก่าสุด 742 วัน · กดเข้าไปดู aging ได้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590288"/>
            <a:ext cx="5623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Tahoma"/>
              </a:rPr>
              <a:t>เจาะลึกได้ 4 ชั้น (drill-down)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864608"/>
            <a:ext cx="5623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40" b="1">
                <a:solidFill>
                  <a:srgbClr val="7C3AED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Top 10 accounts ต่อพนักงานขาย </a:t>
            </a:r>
            <a:r>
              <a:rPr sz="940">
                <a:solidFill>
                  <a:srgbClr val="64748B"/>
                </a:solidFill>
                <a:latin typeface="Tahoma"/>
              </a:rPr>
              <a:t>— เรียงตามยอด พร้อมจังหวัด/อุตสาหกรรม/จำนวนเยี่ยม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40" b="1">
                <a:solidFill>
                  <a:srgbClr val="7C3AED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รายชื่อลูกค้าทั้งกลุ่ม </a:t>
            </a:r>
            <a:r>
              <a:rPr sz="940">
                <a:solidFill>
                  <a:srgbClr val="64748B"/>
                </a:solidFill>
                <a:latin typeface="Tahoma"/>
              </a:rPr>
              <a:t>— สถานะ active/idle, ยอด 12 เดือน, วันสั่งซื้อล่าสุด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40" b="1">
                <a:solidFill>
                  <a:srgbClr val="7C3AED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ใบเสนอราคาค้าง </a:t>
            </a:r>
            <a:r>
              <a:rPr sz="940">
                <a:solidFill>
                  <a:srgbClr val="64748B"/>
                </a:solidFill>
                <a:latin typeface="Tahoma"/>
              </a:rPr>
              <a:t>— เรียงตามอายุ พร้อมโอกาสปิด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40" b="1">
                <a:solidFill>
                  <a:srgbClr val="7C3AED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SO &amp; กำหนดส่ง + To-Do ที่ระบบแนะนำ </a:t>
            </a:r>
            <a:r>
              <a:rPr sz="940">
                <a:solidFill>
                  <a:srgbClr val="64748B"/>
                </a:solidFill>
                <a:latin typeface="Tahoma"/>
              </a:rPr>
              <a:t>— งานที่ควรทำก่อนในกลุ่มนี้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1609344"/>
            <a:ext cx="4956048" cy="4206240"/>
          </a:xfrm>
          <a:prstGeom prst="roundRect">
            <a:avLst>
              <a:gd name="adj" fmla="val 2000"/>
            </a:avLst>
          </a:prstGeom>
          <a:solidFill>
            <a:srgbClr val="FCFDFE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65976" y="1755648"/>
            <a:ext cx="3108960" cy="18288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9984" y="1801368"/>
            <a:ext cx="2980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GROUP A OVERVIEW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65976" y="2011680"/>
            <a:ext cx="1170432" cy="512064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9984" y="2057400"/>
            <a:ext cx="10424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KPI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6136" y="2011680"/>
            <a:ext cx="1170432" cy="512064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2057400"/>
            <a:ext cx="10424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KPI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26296" y="2011680"/>
            <a:ext cx="1170432" cy="512064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0304" y="2057400"/>
            <a:ext cx="10424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KPI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06456" y="2011680"/>
            <a:ext cx="859536" cy="512064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70464" y="2057400"/>
            <a:ext cx="73151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KPI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65976" y="2615184"/>
            <a:ext cx="2286000" cy="109728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9984" y="2660904"/>
            <a:ext cx="2157984" cy="102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ตาราง Top 10 — Rep 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79992" y="2615184"/>
            <a:ext cx="2286000" cy="109728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2660904"/>
            <a:ext cx="2157984" cy="1024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ตาราง Top 10 — Rep 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5976" y="3822191"/>
            <a:ext cx="2286000" cy="9144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9984" y="3867911"/>
            <a:ext cx="21579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ใบเสนอราคาค้าง (aging)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79992" y="3822191"/>
            <a:ext cx="2286000" cy="9144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3867911"/>
            <a:ext cx="21579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SO / กำหนดส่ง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65976" y="4846320"/>
            <a:ext cx="4700016" cy="8229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9984" y="4892040"/>
            <a:ext cx="45720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To-Do ที่ระบบแนะนำ (18 รายการ)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6455664"/>
            <a:ext cx="10874959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654710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Tahoma"/>
              </a:rPr>
              <a:t>กลุ่ม: A Feed &amp; Agri · B Chem &amp; Wastewater · C Cosmetic/Pharma/Rubber · D Oil&amp;Gas/Power · R Rayong/Eastern Hub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10367" y="6547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Tahom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02 · การนำเสนอข้อมูล · หน้า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Stock &amp; Product Management — สต็อกและ Dead 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2729484" cy="12435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45920"/>
            <a:ext cx="50292" cy="120700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64792"/>
            <a:ext cx="23454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64748B"/>
                </a:solidFill>
                <a:latin typeface="Tahoma"/>
              </a:rPr>
              <a:t>มูลค่าสต็อกรวม (Sale Sheet)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148840"/>
            <a:ext cx="2345436" cy="368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D4ED8"/>
                </a:solidFill>
                <a:latin typeface="Tahoma"/>
              </a:rPr>
              <a:t>16.73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99360"/>
            <a:ext cx="23454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Tahoma"/>
              </a:rPr>
              <a:t>M THB · 453 รายการ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2444" y="1627632"/>
            <a:ext cx="2729484" cy="12435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52444" y="1645920"/>
            <a:ext cx="50292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1900" y="1764792"/>
            <a:ext cx="23454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64748B"/>
                </a:solidFill>
                <a:latin typeface="Tahoma"/>
              </a:rPr>
              <a:t>Dead Stock (&gt; 3 ปี)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1900" y="1965960"/>
            <a:ext cx="2345436" cy="368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DC2626"/>
                </a:solidFill>
                <a:latin typeface="Tahoma"/>
              </a:rPr>
              <a:t>4.44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0" y="2316480"/>
            <a:ext cx="23454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Tahoma"/>
              </a:rPr>
              <a:t>M THB · 195 รายการ = 26.5% ของมูลค่า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03580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Tahoma"/>
              </a:rPr>
              <a:t>อ่านอย่างไร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310128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60" b="1">
                <a:solidFill>
                  <a:srgbClr val="7C3AED"/>
                </a:solidFill>
                <a:latin typeface="Tahoma"/>
              </a:rPr>
              <a:t>▪  </a:t>
            </a:r>
            <a:r>
              <a:rPr sz="960" b="1">
                <a:solidFill>
                  <a:srgbClr val="0F172A"/>
                </a:solidFill>
                <a:latin typeface="Tahoma"/>
              </a:rPr>
              <a:t>ตัวกรอง 3 ชั้น </a:t>
            </a:r>
            <a:r>
              <a:rPr sz="960">
                <a:solidFill>
                  <a:srgbClr val="64748B"/>
                </a:solidFill>
                <a:latin typeface="Tahoma"/>
              </a:rPr>
              <a:t>— แบรนด์ · สถานะ (ทั้งหมด/เฉพาะ dead) · ค้นหา code หรือคำอธิบาย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60" b="1">
                <a:solidFill>
                  <a:srgbClr val="7C3AED"/>
                </a:solidFill>
                <a:latin typeface="Tahoma"/>
              </a:rPr>
              <a:t>▪  </a:t>
            </a:r>
            <a:r>
              <a:rPr sz="960" b="1">
                <a:solidFill>
                  <a:srgbClr val="0F172A"/>
                </a:solidFill>
                <a:latin typeface="Tahoma"/>
              </a:rPr>
              <a:t>ตาราง </a:t>
            </a:r>
            <a:r>
              <a:rPr sz="960">
                <a:solidFill>
                  <a:srgbClr val="64748B"/>
                </a:solidFill>
                <a:latin typeface="Tahoma"/>
              </a:rPr>
              <a:t>— Brand, Code, Description, Qty, มูลค่ารวม, Type, Status (สีแดง = dead)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60" b="1">
                <a:solidFill>
                  <a:srgbClr val="7C3AED"/>
                </a:solidFill>
                <a:latin typeface="Tahoma"/>
              </a:rPr>
              <a:t>▪  </a:t>
            </a:r>
            <a:r>
              <a:rPr sz="960" b="1">
                <a:solidFill>
                  <a:srgbClr val="0F172A"/>
                </a:solidFill>
                <a:latin typeface="Tahoma"/>
              </a:rPr>
              <a:t>สถานะจริงที่พบ </a:t>
            </a:r>
            <a:r>
              <a:rPr sz="960">
                <a:solidFill>
                  <a:srgbClr val="64748B"/>
                </a:solidFill>
                <a:latin typeface="Tahoma"/>
              </a:rPr>
              <a:t>— For Sell · Aging Monitor · Dead Stock · ว่าง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60" b="1">
                <a:solidFill>
                  <a:srgbClr val="7C3AED"/>
                </a:solidFill>
                <a:latin typeface="Tahoma"/>
              </a:rPr>
              <a:t>▪  </a:t>
            </a:r>
            <a:r>
              <a:rPr sz="960" b="1">
                <a:solidFill>
                  <a:srgbClr val="0F172A"/>
                </a:solidFill>
                <a:latin typeface="Tahoma"/>
              </a:rPr>
              <a:t>ใช้ตัดสินใจ </a:t>
            </a:r>
            <a:r>
              <a:rPr sz="960">
                <a:solidFill>
                  <a:srgbClr val="64748B"/>
                </a:solidFill>
                <a:latin typeface="Tahoma"/>
              </a:rPr>
              <a:t>— ของที่ควรระบายก่อน / สินค้าที่ควรหยุดสั่งเพิ่ม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60" b="1">
                <a:solidFill>
                  <a:srgbClr val="7C3AED"/>
                </a:solidFill>
                <a:latin typeface="Tahoma"/>
              </a:rPr>
              <a:t>▪  </a:t>
            </a:r>
            <a:r>
              <a:rPr sz="960" b="1">
                <a:solidFill>
                  <a:srgbClr val="0F172A"/>
                </a:solidFill>
                <a:latin typeface="Tahoma"/>
              </a:rPr>
              <a:t>ต้นทาง </a:t>
            </a:r>
            <a:r>
              <a:rPr sz="960">
                <a:solidFill>
                  <a:srgbClr val="64748B"/>
                </a:solidFill>
                <a:latin typeface="Tahoma"/>
              </a:rPr>
              <a:t>— Google Sheets PM Master (Sale tab) → etl_script.py + clean_inventory.py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1609344"/>
            <a:ext cx="4956048" cy="4206240"/>
          </a:xfrm>
          <a:prstGeom prst="roundRect">
            <a:avLst>
              <a:gd name="adj" fmla="val 2000"/>
            </a:avLst>
          </a:prstGeom>
          <a:solidFill>
            <a:srgbClr val="FCFDFE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65976" y="1755648"/>
            <a:ext cx="3291840" cy="18288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9984" y="1801368"/>
            <a:ext cx="31638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STOCK &amp; PM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5976" y="2011680"/>
            <a:ext cx="2286000" cy="54864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4" y="2057400"/>
            <a:ext cx="21579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KPI มูลค่าสต็อก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9992" y="2011680"/>
            <a:ext cx="2286000" cy="54864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057400"/>
            <a:ext cx="21579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KPI dead stock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5976" y="2651760"/>
            <a:ext cx="1097280" cy="310896"/>
          </a:xfrm>
          <a:prstGeom prst="roundRect">
            <a:avLst>
              <a:gd name="adj" fmla="val 3000"/>
            </a:avLst>
          </a:prstGeom>
          <a:solidFill>
            <a:srgbClr val="FEF9EC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4" y="2697479"/>
            <a:ext cx="9692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แบรนด์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54696" y="2651760"/>
            <a:ext cx="1097280" cy="310896"/>
          </a:xfrm>
          <a:prstGeom prst="roundRect">
            <a:avLst>
              <a:gd name="adj" fmla="val 3000"/>
            </a:avLst>
          </a:prstGeom>
          <a:solidFill>
            <a:srgbClr val="FEF9EC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2697479"/>
            <a:ext cx="9692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สถานะ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3416" y="2651760"/>
            <a:ext cx="2322576" cy="310896"/>
          </a:xfrm>
          <a:prstGeom prst="roundRect">
            <a:avLst>
              <a:gd name="adj" fmla="val 3000"/>
            </a:avLst>
          </a:prstGeom>
          <a:solidFill>
            <a:srgbClr val="FEF9EC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2697479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ค้นหา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65976" y="3072384"/>
            <a:ext cx="4700016" cy="2596896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9984" y="3118104"/>
            <a:ext cx="4572000" cy="2523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ตารางสินค้า 453 รายการ (เลื่อน/เรียงได้)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6455664"/>
            <a:ext cx="10874959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54710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Tahoma"/>
              </a:rPr>
              <a:t>ตัวเลขคำนวณจาก 5_Inventory_Supplier.csv ณ 19 ต.ค. 2569 (Total price)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10367" y="6547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Tahom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02 · การนำเสนอข้อมูล · หน้า 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Economic &amp; BOI/DBD และ Open Quotations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91056"/>
            <a:ext cx="1236726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09344"/>
            <a:ext cx="50292" cy="115214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28216"/>
            <a:ext cx="8526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64748B"/>
                </a:solidFill>
                <a:latin typeface="Tahoma"/>
              </a:rPr>
              <a:t>MPI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112264"/>
            <a:ext cx="852678" cy="318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0EA5E9"/>
                </a:solidFill>
                <a:latin typeface="Tahoma"/>
              </a:rPr>
              <a:t>94.80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12492"/>
            <a:ext cx="8526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Tahoma"/>
              </a:rPr>
              <a:t>+0.46% YoY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9686" y="1591056"/>
            <a:ext cx="1236726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9686" y="1609344"/>
            <a:ext cx="50292" cy="11521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79141" y="1728216"/>
            <a:ext cx="8526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64748B"/>
                </a:solidFill>
                <a:latin typeface="Tahoma"/>
              </a:rPr>
              <a:t>Capacity Utilization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9141" y="2112264"/>
            <a:ext cx="852678" cy="318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D97706"/>
                </a:solidFill>
                <a:latin typeface="Tahoma"/>
              </a:rPr>
              <a:t>129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9141" y="2412492"/>
            <a:ext cx="8526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Tahoma"/>
              </a:rPr>
              <a:t>เซกเตอร์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61004" y="1591056"/>
            <a:ext cx="1236726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61004" y="1609344"/>
            <a:ext cx="50292" cy="115214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0460" y="1728216"/>
            <a:ext cx="8526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64748B"/>
                </a:solidFill>
                <a:latin typeface="Tahoma"/>
              </a:rPr>
              <a:t>BOT Policy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0460" y="2112264"/>
            <a:ext cx="852678" cy="318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059669"/>
                </a:solidFill>
                <a:latin typeface="Tahoma"/>
              </a:rPr>
              <a:t>1.00%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0460" y="2412492"/>
            <a:ext cx="8526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Tahoma"/>
              </a:rPr>
              <a:t>กนง. 4/2569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62322" y="1591056"/>
            <a:ext cx="1236726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62322" y="1609344"/>
            <a:ext cx="50292" cy="11521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1778" y="1728216"/>
            <a:ext cx="8526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64748B"/>
                </a:solidFill>
                <a:latin typeface="Tahoma"/>
              </a:rPr>
              <a:t>Private Capex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1778" y="2112264"/>
            <a:ext cx="852678" cy="3185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7C3AED"/>
                </a:solidFill>
                <a:latin typeface="Tahoma"/>
              </a:rPr>
              <a:t>+13.4%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1778" y="2412492"/>
            <a:ext cx="8526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4748B"/>
                </a:solidFill>
                <a:latin typeface="Tahoma"/>
              </a:rPr>
              <a:t>Q2/2569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926080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Tahoma"/>
              </a:rPr>
              <a:t>บนหน้านี้ยังมี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218688"/>
            <a:ext cx="5394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40" b="1">
                <a:solidFill>
                  <a:srgbClr val="7C3AED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กราฟ CapU 12 เซกเตอร์สูงสุด </a:t>
            </a:r>
            <a:r>
              <a:rPr sz="940">
                <a:solidFill>
                  <a:srgbClr val="64748B"/>
                </a:solidFill>
                <a:latin typeface="Tahoma"/>
              </a:rPr>
              <a:t>— ดูว่าอุตสาหกรรมไหนเดินเครื่องหนัก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40" b="1">
                <a:solidFill>
                  <a:srgbClr val="7C3AED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BOI Investment Radar </a:t>
            </a:r>
            <a:r>
              <a:rPr sz="940">
                <a:solidFill>
                  <a:srgbClr val="64748B"/>
                </a:solidFill>
                <a:latin typeface="Tahoma"/>
              </a:rPr>
              <a:t>— 24 โครงการ พร้อมบริษัท/โซน/มูลค่าลงทุน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40" b="1">
                <a:solidFill>
                  <a:srgbClr val="7C3AED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DBD coverage </a:t>
            </a:r>
            <a:r>
              <a:rPr sz="940">
                <a:solidFill>
                  <a:srgbClr val="64748B"/>
                </a:solidFill>
                <a:latin typeface="Tahoma"/>
              </a:rPr>
              <a:t>— จับคู่ลูกค้ากับทะเบียนโรงงานได้กี่ % กี่ราย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940" b="1">
                <a:solidFill>
                  <a:srgbClr val="7C3AED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คลิกอุตสาหกรรม → รายชื่อโรงงาน </a:t>
            </a:r>
            <a:r>
              <a:rPr sz="940">
                <a:solidFill>
                  <a:srgbClr val="64748B"/>
                </a:solidFill>
                <a:latin typeface="Tahoma"/>
              </a:rPr>
              <a:t>— สีเขียว = เคยเข้าไปพบแล้ว (join กับ Visit)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791456"/>
            <a:ext cx="5440680" cy="11887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143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4901184"/>
            <a:ext cx="5074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1D4ED8"/>
                </a:solidFill>
                <a:latin typeface="Tahoma"/>
              </a:rPr>
              <a:t>Open Quotations Pipeline (17_Open_Quotes.csv)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193792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0F172A"/>
                </a:solidFill>
                <a:latin typeface="Tahoma"/>
              </a:rPr>
              <a:t>1,059 ดีลค้าง · กรองตามกลุ่ม/ค้นหา · คอลัมน์: Quote ID, บริษัท, เซลส์, มูลค่า, โอกาสปิด, วันคาดสั่ง, aging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1591056"/>
            <a:ext cx="5138928" cy="4206240"/>
          </a:xfrm>
          <a:prstGeom prst="roundRect">
            <a:avLst>
              <a:gd name="adj" fmla="val 2000"/>
            </a:avLst>
          </a:prstGeom>
          <a:solidFill>
            <a:srgbClr val="FCFDFE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83096" y="1737360"/>
            <a:ext cx="3108960" cy="18288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4" y="1783080"/>
            <a:ext cx="2980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ECONOMIC &amp; BOI/DBD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83096" y="1993392"/>
            <a:ext cx="1078992" cy="512064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2039112"/>
            <a:ext cx="9509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KPI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1993392"/>
            <a:ext cx="1078992" cy="512064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99248" y="2039112"/>
            <a:ext cx="9509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KPI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87384" y="1993392"/>
            <a:ext cx="1078992" cy="512064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51392" y="2039112"/>
            <a:ext cx="95097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KPI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39528" y="1993392"/>
            <a:ext cx="1243584" cy="512064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03536" y="2039112"/>
            <a:ext cx="1115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KPI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83096" y="2596896"/>
            <a:ext cx="4700016" cy="100584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47104" y="2642615"/>
            <a:ext cx="45720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กราฟ Capacity Utilization รายเซกเตอร์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83096" y="3694176"/>
            <a:ext cx="2286000" cy="96012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47104" y="3739896"/>
            <a:ext cx="2157984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ตาราง BOI 24 โครงการ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97112" y="3694176"/>
            <a:ext cx="2286000" cy="96012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20" y="3739896"/>
            <a:ext cx="2157984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DBD by industry (คลิกได้)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83096" y="4745736"/>
            <a:ext cx="4700016" cy="9144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143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47104" y="4791456"/>
            <a:ext cx="45720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4748B"/>
                </a:solidFill>
                <a:latin typeface="Tahoma"/>
              </a:rPr>
              <a:t>เจาะรายชื่อโรงงานในอุตสาหกรรม (เขียว = เคยเข้าพบ)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6455664"/>
            <a:ext cx="10874959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654710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Tahoma"/>
              </a:rPr>
              <a:t>ที่มา: 6_Macroeconomic_Data.csv · 7_BOI_Data.csv · 8_DBD_Data.csv · 4_Visit_Report.csv · 17_Open_Quotes.csv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10367" y="6547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Tahom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02 · การนำเสนอข้อมูล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แผนที่ “หน้า ↔ ไฟล์ข้อมูล” — ตรวจย้อนได้ทุกตัวเลข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609344"/>
          <a:ext cx="10899648" cy="338328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4754880"/>
                <a:gridCol w="404164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ahoma"/>
                        </a:rPr>
                        <a:t>หน้าแดชบอร์ด</a:t>
                      </a:r>
                    </a:p>
                  </a:txBody>
                  <a:tcPr marL="82296" marR="82296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ahoma"/>
                        </a:rPr>
                        <a:t>ไฟล์ที่อ่าน</a:t>
                      </a:r>
                    </a:p>
                  </a:txBody>
                  <a:tcPr marL="82296" marR="82296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ahoma"/>
                        </a:rPr>
                        <a:t>สิ่งที่แสดง</a:t>
                      </a:r>
                    </a:p>
                  </a:txBody>
                  <a:tcPr marL="82296" marR="82296" marT="36576" marB="36576" anchor="ctr">
                    <a:solidFill>
                      <a:srgbClr val="1E293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Tahoma"/>
                        </a:rPr>
                        <a:t>🏢 EPS Overview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Tahoma"/>
                        </a:rPr>
                        <a:t>0_EPS_Overview_2026 · 0_EPS_HotJobs_2026 · 3_SO_Data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Tahoma"/>
                        </a:rPr>
                        <a:t>Revenue vs plan · SO · active customers · hot jobs · กราฟสะสม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Tahoma"/>
                        </a:rPr>
                        <a:t>📊 Group A–D/R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Tahoma"/>
                        </a:rPr>
                        <a:t>12_Group_KPI · 13_Rep_Performance · 14_Client_Detail · 15_SO_Delivery · 16_Todo · 17_Open_Quotes · 0_EPS_Overview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Tahoma"/>
                        </a:rPr>
                        <a:t>Revenue 12m · active accounts · win rate · open quotes · drill-down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Tahoma"/>
                        </a:rPr>
                        <a:t>📦 Stock &amp; PM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Tahoma"/>
                        </a:rPr>
                        <a:t>5_Inventory_Supplier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Tahoma"/>
                        </a:rPr>
                        <a:t>มูลค่าสต็อก · dead stock · ตาราง/ตัวกรอง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Tahoma"/>
                        </a:rPr>
                        <a:t>📈 Economic &amp; BOI/DBD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Tahoma"/>
                        </a:rPr>
                        <a:t>6_Macroeconomic_Data · 7_BOI_Data · 8_DBD_Data · 4_Visit_Report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Tahoma"/>
                        </a:rPr>
                        <a:t>MPI · CapU · ดอกเบี้ย · capex · BOI · DBD coverage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F172A"/>
                          </a:solidFill>
                          <a:latin typeface="Tahoma"/>
                        </a:rPr>
                        <a:t>🧾 Open Quotations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Tahoma"/>
                        </a:rPr>
                        <a:t>17_Open_Quotes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0F172A"/>
                          </a:solidFill>
                          <a:latin typeface="Tahoma"/>
                        </a:rPr>
                        <a:t>ดีลค้าง · โอกาสปิด · aging · กรองตามกลุ่ม</a:t>
                      </a:r>
                    </a:p>
                  </a:txBody>
                  <a:tcPr marL="82296" marR="82296" marT="27432" marB="27432" anchor="ctr">
                    <a:lnB w="11430" cap="flat" cmpd="sng" algn="ctr">
                      <a:solidFill>
                        <a:srgbClr val="E2E8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5029200"/>
            <a:ext cx="10874959" cy="120700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138928"/>
            <a:ext cx="1043604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F172A"/>
                </a:solidFill>
                <a:latin typeface="Tahoma"/>
              </a:rPr>
              <a:t>อ่านผังนี้อย่างไร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413248"/>
            <a:ext cx="1043604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19" b="0" i="0">
                <a:solidFill>
                  <a:srgbClr val="0F172A"/>
                </a:solidFill>
                <a:latin typeface="Tahoma"/>
              </a:rPr>
              <a:t>ทุกหน้าโหลด CSV ตรงจากโฟลเดอร์ RAW_Data/ ผ่าน fetch (มี ?t=timestamp กัน cache ค้าง) → แปลงด้วย csv-parser.js → วาดกราฟด้วย Chart.js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19" b="0" i="0">
                <a:solidFill>
                  <a:srgbClr val="0F172A"/>
                </a:solidFill>
                <a:latin typeface="Tahoma"/>
              </a:rPr>
              <a:t>ไม่มีตัวเลขฝังในโค้ดหน้าเว็บ ดังนั้น “แก้ข้อมูลที่ไฟล์” = “หน้าจอเปลี่ยนตาม” ไม่ต้องแก้โค้ด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6455664"/>
            <a:ext cx="10874959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54710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Tahoma"/>
              </a:rPr>
              <a:t>ตรวจได้เอง: เปิด Dashboard_App/js/*.js แล้วค้นชื่อไฟล์ CSV ที่หน้าเหล่านั้นอ่าน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10367" y="6547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Tahom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04 · คุณภาพข้อมูล &amp; การให้บริการ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ระบบรันอยู่ที่ไหน และป้องกันข้อมูลอย่างไร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9344"/>
            <a:ext cx="5300319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D4ED8"/>
                </a:solidFill>
                <a:latin typeface="Tahoma"/>
              </a:rPr>
              <a:t>แบบที่ใช้อยู่: NAS เสิร์ฟทั้งแอปและข้อมูล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84831"/>
            <a:ext cx="4824831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40" b="1">
                <a:solidFill>
                  <a:srgbClr val="1D4ED8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ตัวให้บริการ </a:t>
            </a:r>
            <a:r>
              <a:rPr sz="940">
                <a:solidFill>
                  <a:srgbClr val="64748B"/>
                </a:solidFill>
                <a:latin typeface="Tahoma"/>
              </a:rPr>
              <a:t>scripts/serve_raw_data.py (Python stdlib, ไม่ต้องติดตั้งอะไร)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40" b="1">
                <a:solidFill>
                  <a:srgbClr val="1D4ED8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เข้าได้ 2 ทาง </a:t>
            </a:r>
            <a:r>
              <a:rPr sz="940">
                <a:solidFill>
                  <a:srgbClr val="64748B"/>
                </a:solidFill>
                <a:latin typeface="Tahoma"/>
              </a:rPr>
              <a:t>LAN 192.168.1.5:8090 · public URL ผ่าน Tailscale Funnel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40" b="1">
                <a:solidFill>
                  <a:srgbClr val="1D4ED8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ข้อดี </a:t>
            </a:r>
            <a:r>
              <a:rPr sz="940">
                <a:solidFill>
                  <a:srgbClr val="64748B"/>
                </a:solidFill>
                <a:latin typeface="Tahoma"/>
              </a:rPr>
              <a:t>ข้อมูลลูกค้าไม่ออกจากบริษัท · origin เดียว ไม่มีปัญหา CORS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40" b="1">
                <a:solidFill>
                  <a:srgbClr val="1D4ED8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ข้อแลก </a:t>
            </a:r>
            <a:r>
              <a:rPr sz="940">
                <a:solidFill>
                  <a:srgbClr val="64748B"/>
                </a:solidFill>
                <a:latin typeface="Tahoma"/>
              </a:rPr>
              <a:t>ถ้า NAS หรือเน็ตออฟฟิศล่ม ทุกคนเข้าไม่ได้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9344"/>
            <a:ext cx="5300319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0751" y="17373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0D9488"/>
                </a:solidFill>
                <a:latin typeface="Tahoma"/>
              </a:rPr>
              <a:t>แบบทางเลือก: GitHub Pages + NAS (เฉพาะข้อมูล)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0751" y="2084831"/>
            <a:ext cx="4824831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40" b="1">
                <a:solidFill>
                  <a:srgbClr val="0D9488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ตัวเว็บ </a:t>
            </a:r>
            <a:r>
              <a:rPr sz="940">
                <a:solidFill>
                  <a:srgbClr val="64748B"/>
                </a:solidFill>
                <a:latin typeface="Tahoma"/>
              </a:rPr>
              <a:t>GitHub Pages (static, ไม่มีข้อมูลลูกค้า)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40" b="1">
                <a:solidFill>
                  <a:srgbClr val="0D9488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ข้อมูล </a:t>
            </a:r>
            <a:r>
              <a:rPr sz="940">
                <a:solidFill>
                  <a:srgbClr val="64748B"/>
                </a:solidFill>
                <a:latin typeface="Tahoma"/>
              </a:rPr>
              <a:t>NAS + serve_raw_data.py (CORS เฉพาะ origin ของแดชบอร์ด)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40" b="1">
                <a:solidFill>
                  <a:srgbClr val="0D9488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ตั้งค่า </a:t>
            </a:r>
            <a:r>
              <a:rPr sz="940">
                <a:solidFill>
                  <a:srgbClr val="64748B"/>
                </a:solidFill>
                <a:latin typeface="Tahoma"/>
              </a:rPr>
              <a:t>Dashboard_App/js/config.js → window.EPS_DATA_BASE = 'https://…/' 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940" b="1">
                <a:solidFill>
                  <a:srgbClr val="0D9488"/>
                </a:solidFill>
                <a:latin typeface="Tahoma"/>
              </a:rPr>
              <a:t>▪  </a:t>
            </a:r>
            <a:r>
              <a:rPr sz="940" b="1">
                <a:solidFill>
                  <a:srgbClr val="0F172A"/>
                </a:solidFill>
                <a:latin typeface="Tahoma"/>
              </a:rPr>
              <a:t>ข้อควรระวัง </a:t>
            </a:r>
            <a:r>
              <a:rPr sz="940">
                <a:solidFill>
                  <a:srgbClr val="64748B"/>
                </a:solidFill>
                <a:latin typeface="Tahoma"/>
              </a:rPr>
              <a:t>RAW_Data เคยถูก push ขึ้น repo สาธารณะ — การลบไม่ลบประวัติ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59028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0F172A"/>
                </a:solidFill>
                <a:latin typeface="Tahoma"/>
              </a:rPr>
              <a:t>สิ่งที่ตัวให้บริการไฟล์บล็อกไว้ให้อัตโนมัติ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882896"/>
            <a:ext cx="2057948" cy="658368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143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956048"/>
            <a:ext cx="1838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DC2626"/>
                </a:solidFill>
                <a:latin typeface="Tahoma"/>
              </a:rPr>
              <a:t>✕ _CORE_Private/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193792"/>
            <a:ext cx="1838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 i="0">
                <a:solidFill>
                  <a:srgbClr val="64748B"/>
                </a:solidFill>
                <a:latin typeface="Tahoma"/>
              </a:rPr>
              <a:t>credential CRM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62620" y="4882896"/>
            <a:ext cx="2057948" cy="658368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143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2348" y="4956048"/>
            <a:ext cx="1838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DC2626"/>
                </a:solidFill>
                <a:latin typeface="Tahoma"/>
              </a:rPr>
              <a:t>✕ .git/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2348" y="5193792"/>
            <a:ext cx="1838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 i="0">
                <a:solidFill>
                  <a:srgbClr val="64748B"/>
                </a:solidFill>
                <a:latin typeface="Tahoma"/>
              </a:rPr>
              <a:t>ประวัติ repo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6873" y="4882896"/>
            <a:ext cx="2057948" cy="658368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143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6601" y="4956048"/>
            <a:ext cx="1838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DC2626"/>
                </a:solidFill>
                <a:latin typeface="Tahoma"/>
              </a:rPr>
              <a:t>✕ *.py · *.md · *.log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6601" y="5193792"/>
            <a:ext cx="1838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 i="0">
                <a:solidFill>
                  <a:srgbClr val="64748B"/>
                </a:solidFill>
                <a:latin typeface="Tahoma"/>
              </a:rPr>
              <a:t>ไฟล์งาน/บันทึก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71125" y="4882896"/>
            <a:ext cx="2057948" cy="658368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143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0853" y="4956048"/>
            <a:ext cx="1838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DC2626"/>
                </a:solidFill>
                <a:latin typeface="Tahoma"/>
              </a:rPr>
              <a:t>✕ path traversal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0853" y="5193792"/>
            <a:ext cx="1838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 i="0">
                <a:solidFill>
                  <a:srgbClr val="64748B"/>
                </a:solidFill>
                <a:latin typeface="Tahoma"/>
              </a:rPr>
              <a:t>../ นอกโฟลเดอร์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75378" y="4882896"/>
            <a:ext cx="2057948" cy="658368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143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85106" y="4956048"/>
            <a:ext cx="1838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1" i="0">
                <a:solidFill>
                  <a:srgbClr val="DC2626"/>
                </a:solidFill>
                <a:latin typeface="Tahoma"/>
              </a:rPr>
              <a:t>✕ directory listing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5106" y="5193792"/>
            <a:ext cx="1838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9" b="0" i="0">
                <a:solidFill>
                  <a:srgbClr val="64748B"/>
                </a:solidFill>
                <a:latin typeface="Tahoma"/>
              </a:rPr>
              <a:t>ไม่แสดงรายชื่อไฟล์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669280"/>
            <a:ext cx="10874959" cy="621792"/>
          </a:xfrm>
          <a:prstGeom prst="roundRect">
            <a:avLst>
              <a:gd name="adj" fmla="val 5000"/>
            </a:avLst>
          </a:prstGeom>
          <a:solidFill>
            <a:srgbClr val="FEF9EC"/>
          </a:solidFill>
          <a:ln w="1143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576072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92400E"/>
                </a:solidFill>
                <a:latin typeface="Tahoma"/>
              </a:rPr>
              <a:t>ข้อสรุป: ข้อมูลอ่อนไหวควรอยู่ในบริษัท (NAS) — ถ้าต้องเปิดให้เข้าจากที่ไหนก็ได้โดยไม่ติดตั้งอะไร ต้องมี public URL (Tailscale Funnel / Cloudflare Tunnel) — ยังไงก็ต้องมีชั้น network กันหน้าเว็บ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455664"/>
            <a:ext cx="10874959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54710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Tahoma"/>
              </a:rPr>
              <a:t>ที่มา: DATA_HOSTING_Synology.md · deploy/synology/README.md · scripts/serve_raw_data.py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10367" y="6547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Tahom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4748B"/>
                </a:solidFill>
                <a:latin typeface="Tahoma"/>
              </a:rPr>
              <a:t>สรุป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Tahoma"/>
              </a:rPr>
              <a:t>สามบรรทัดที่ต้องจำ + สิ่งที่ควรทำต่อ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74959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284732"/>
            <a:ext cx="1005840" cy="292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09344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9222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D4ED8"/>
                </a:solidFill>
                <a:latin typeface="Tahoma"/>
              </a:rPr>
              <a:t>เก็บ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810512"/>
            <a:ext cx="90461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— 4 ระบบต้นทาง → 24 สคริปต์ → CSV 3 ชั้น (19 ไฟล์, ≈96,000 แถว) ตาม cron วันละ 2 รอบ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32304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61518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D4ED8"/>
                </a:solidFill>
                <a:latin typeface="Tahoma"/>
              </a:rPr>
              <a:t>นำเสนอ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633472"/>
            <a:ext cx="90461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— 8 หน้า แยกตาม 6 บทบาท; KPI/กราฟ/ตาราง ทุกค่าคำนวณสดจาก CSV ไม่มีค่าฮาร์ดโค้ด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255264"/>
            <a:ext cx="10874959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43814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D4ED8"/>
                </a:solidFill>
                <a:latin typeface="Tahoma"/>
              </a:rPr>
              <a:t>ตรวจย้อน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456432"/>
            <a:ext cx="90461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 i="0">
                <a:solidFill>
                  <a:srgbClr val="0F172A"/>
                </a:solidFill>
                <a:latin typeface="Tahoma"/>
              </a:rPr>
              <a:t>— ทุกหน้าบอกไฟล์ต้นทาง และทุกไฟล์บอกระบบที่มา; ข้อจำกัด (U 82.8 M, DBD 30%) ระบุชัด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148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Tahoma"/>
              </a:rPr>
              <a:t>แผนพัฒนาต่อ (เรียงตามผลกระทบ)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425696"/>
            <a:ext cx="2057948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526280"/>
            <a:ext cx="1783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7706"/>
                </a:solidFill>
                <a:latin typeface="Tahoma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864608"/>
            <a:ext cx="17836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0F172A"/>
                </a:solidFill>
                <a:latin typeface="Tahoma"/>
              </a:rPr>
              <a:t>เติม industry ที่ขาดใน 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468112"/>
            <a:ext cx="178362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64748B"/>
                </a:solidFill>
                <a:latin typeface="Tahoma"/>
              </a:rPr>
              <a:t>ลดยอดกลุ่ม U 82.80 M ให้เข้ากลุ่มจริง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62620" y="4425696"/>
            <a:ext cx="2057948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08924" y="4526280"/>
            <a:ext cx="1783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7706"/>
                </a:solidFill>
                <a:latin typeface="Tahom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8924" y="4864608"/>
            <a:ext cx="17836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0F172A"/>
                </a:solidFill>
                <a:latin typeface="Tahoma"/>
              </a:rPr>
              <a:t>join CRM Contacts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8924" y="5468112"/>
            <a:ext cx="178362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64748B"/>
                </a:solidFill>
                <a:latin typeface="Tahoma"/>
              </a:rPr>
              <a:t>ได้ผู้ติดต่อ/เบอร์โทรใน Client Master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66873" y="4425696"/>
            <a:ext cx="2057948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3177" y="4526280"/>
            <a:ext cx="1783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7706"/>
                </a:solidFill>
                <a:latin typeface="Tahom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3177" y="4864608"/>
            <a:ext cx="17836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0F172A"/>
                </a:solidFill>
                <a:latin typeface="Tahoma"/>
              </a:rPr>
              <a:t>Auth จริงก่อนเปิด public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3177" y="5468112"/>
            <a:ext cx="178362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64748B"/>
                </a:solidFill>
                <a:latin typeface="Tahoma"/>
              </a:rPr>
              <a:t>Cloudflare Access / Basic Auth ที่ตัวเสิร์ฟ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71125" y="4425696"/>
            <a:ext cx="2057948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17429" y="4526280"/>
            <a:ext cx="1783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7706"/>
                </a:solidFill>
                <a:latin typeface="Tahom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7429" y="4864608"/>
            <a:ext cx="17836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0F172A"/>
                </a:solidFill>
                <a:latin typeface="Tahoma"/>
              </a:rPr>
              <a:t>หน้า Win/Loss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7429" y="5468112"/>
            <a:ext cx="178362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64748B"/>
                </a:solidFill>
                <a:latin typeface="Tahoma"/>
              </a:rPr>
              <a:t>ต้องเริ่มเก็บเหตุผลชนะ/แพ้ใน CRM ก่อน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75378" y="4425696"/>
            <a:ext cx="2057948" cy="1700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21682" y="4526280"/>
            <a:ext cx="1783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7706"/>
                </a:solidFill>
                <a:latin typeface="Tahoma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1682" y="4864608"/>
            <a:ext cx="17836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0" b="1" i="0">
                <a:solidFill>
                  <a:srgbClr val="0F172A"/>
                </a:solidFill>
                <a:latin typeface="Tahoma"/>
              </a:rPr>
              <a:t>แจ้งเตือนเชิงรุก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1682" y="5468112"/>
            <a:ext cx="178362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0">
                <a:solidFill>
                  <a:srgbClr val="64748B"/>
                </a:solidFill>
                <a:latin typeface="Tahoma"/>
              </a:rPr>
              <a:t>LINE/อีเมลเมื่องานค้างเกิน 90 วัน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455664"/>
            <a:ext cx="10874959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547104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4748B"/>
                </a:solidFill>
                <a:latin typeface="Tahoma"/>
              </a:rPr>
              <a:t>Roadmap มาจากข้อจำกัดที่ระบุในสไลด์ 10 — ทุกรายการอ้างอิงได้จากเอกสารในโฟลเดอร์งาน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10367" y="6547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1" i="0">
                <a:solidFill>
                  <a:srgbClr val="64748B"/>
                </a:solidFill>
                <a:latin typeface="Tahom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0EA5E9"/>
                </a:solidFill>
                <a:latin typeface="Tahoma"/>
              </a:rPr>
              <a:t>ขอบคุณ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Tahoma"/>
              </a:rPr>
              <a:t>คำถาม / ข้อเสนอแนะ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34640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Tahoma"/>
              </a:rPr>
              <a:t>เอกสารอ้างอิงทั้งหมดอยู่ในโฟลเดอร์ “AI Dashboard”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65760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Tahoma"/>
              </a:rPr>
              <a:t>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365760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 i="0">
                <a:solidFill>
                  <a:srgbClr val="CBD5E1"/>
                </a:solidFill>
                <a:latin typeface="Tahoma"/>
              </a:rPr>
              <a:t>ภาพรวมโปรเจกต์ + ความถูกต้องของข้อมูล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68496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Tahoma"/>
              </a:rPr>
              <a:t>Data_Dictionary_and_Schedule.md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396849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 i="0">
                <a:solidFill>
                  <a:srgbClr val="CBD5E1"/>
                </a:solidFill>
                <a:latin typeface="Tahoma"/>
              </a:rPr>
              <a:t>คอลัมน์จริงของทุกไฟล์ + ตาราง ETL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279392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Tahoma"/>
              </a:rPr>
              <a:t>app_architecture.md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427939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 i="0">
                <a:solidFill>
                  <a:srgbClr val="CBD5E1"/>
                </a:solidFill>
                <a:latin typeface="Tahoma"/>
              </a:rPr>
              <a:t>โครงสร้างแอป/Renderer แต่ละหน้า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59028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Tahoma"/>
              </a:rPr>
              <a:t>DATA_HOSTING_Synology.md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459028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 i="0">
                <a:solidFill>
                  <a:srgbClr val="CBD5E1"/>
                </a:solidFill>
                <a:latin typeface="Tahoma"/>
              </a:rPr>
              <a:t>การโฮสต์ข้อมูลบน NAS + ความปลอดภัย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901183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Tahoma"/>
              </a:rPr>
              <a:t>deploy/synology/README.md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4901183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 i="0">
                <a:solidFill>
                  <a:srgbClr val="CBD5E1"/>
                </a:solidFill>
                <a:latin typeface="Tahoma"/>
              </a:rPr>
              <a:t>คู่มือติดตั้งบน NAS ทีละขั้น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94960"/>
            <a:ext cx="548640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54126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 i="0">
                <a:solidFill>
                  <a:srgbClr val="64748B"/>
                </a:solidFill>
                <a:latin typeface="Tahoma"/>
              </a:rPr>
              <a:t>EPS Business Unit · Siam Raj Public Company Limited · ตุลาคม 2569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